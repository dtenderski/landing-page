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9" r:id="rId2"/>
    <p:sldId id="485" r:id="rId3"/>
    <p:sldId id="481" r:id="rId4"/>
    <p:sldId id="442" r:id="rId5"/>
    <p:sldId id="443" r:id="rId6"/>
    <p:sldId id="444" r:id="rId7"/>
    <p:sldId id="445" r:id="rId8"/>
    <p:sldId id="446" r:id="rId9"/>
    <p:sldId id="447" r:id="rId10"/>
    <p:sldId id="448" r:id="rId11"/>
    <p:sldId id="449" r:id="rId12"/>
    <p:sldId id="450" r:id="rId13"/>
    <p:sldId id="451" r:id="rId14"/>
    <p:sldId id="452" r:id="rId15"/>
    <p:sldId id="453" r:id="rId16"/>
    <p:sldId id="454" r:id="rId17"/>
    <p:sldId id="482" r:id="rId18"/>
    <p:sldId id="456" r:id="rId19"/>
    <p:sldId id="457" r:id="rId20"/>
    <p:sldId id="458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6" userDrawn="1">
          <p15:clr>
            <a:srgbClr val="A4A3A4"/>
          </p15:clr>
        </p15:guide>
        <p15:guide id="2" pos="282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rijani Surjawinata" initials="A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394" autoAdjust="0"/>
  </p:normalViewPr>
  <p:slideViewPr>
    <p:cSldViewPr showGuides="1">
      <p:cViewPr varScale="1">
        <p:scale>
          <a:sx n="77" d="100"/>
          <a:sy n="77" d="100"/>
        </p:scale>
        <p:origin x="1206" y="78"/>
      </p:cViewPr>
      <p:guideLst>
        <p:guide orient="horz" pos="2256"/>
        <p:guide pos="282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10-16T12:40:03.833" idx="1">
    <p:pos x="10" y="10"/>
    <p:text/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D4DB6-CE64-4EF4-A2F2-6A61383EA22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02850-BD0B-4543-A689-2823D5F7E4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D4DB6-CE64-4EF4-A2F2-6A61383EA22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02850-BD0B-4543-A689-2823D5F7E4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D4DB6-CE64-4EF4-A2F2-6A61383EA22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02850-BD0B-4543-A689-2823D5F7E4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D4DB6-CE64-4EF4-A2F2-6A61383EA22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02850-BD0B-4543-A689-2823D5F7E4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D4DB6-CE64-4EF4-A2F2-6A61383EA22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02850-BD0B-4543-A689-2823D5F7E4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D4DB6-CE64-4EF4-A2F2-6A61383EA22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02850-BD0B-4543-A689-2823D5F7E4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D4DB6-CE64-4EF4-A2F2-6A61383EA22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02850-BD0B-4543-A689-2823D5F7E4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D4DB6-CE64-4EF4-A2F2-6A61383EA22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02850-BD0B-4543-A689-2823D5F7E4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D4DB6-CE64-4EF4-A2F2-6A61383EA22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02850-BD0B-4543-A689-2823D5F7E4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D4DB6-CE64-4EF4-A2F2-6A61383EA22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02850-BD0B-4543-A689-2823D5F7E4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D4DB6-CE64-4EF4-A2F2-6A61383EA22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02850-BD0B-4543-A689-2823D5F7E4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D4DB6-CE64-4EF4-A2F2-6A61383EA22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602850-BD0B-4543-A689-2823D5F7E43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080504" y="4563018"/>
            <a:ext cx="184730" cy="80021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endParaRPr lang="en-US" sz="28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  <a:p>
            <a:pPr algn="ctr"/>
            <a:endParaRPr lang="en-US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pic>
        <p:nvPicPr>
          <p:cNvPr id="2" name="Picture 1" descr="The twisting tower agor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0445" y="862965"/>
            <a:ext cx="2405380" cy="5244465"/>
          </a:xfrm>
          <a:prstGeom prst="rect">
            <a:avLst/>
          </a:prstGeom>
        </p:spPr>
      </p:pic>
      <p:sp>
        <p:nvSpPr>
          <p:cNvPr id="14" name="TextBox 7"/>
          <p:cNvSpPr txBox="1"/>
          <p:nvPr/>
        </p:nvSpPr>
        <p:spPr>
          <a:xfrm>
            <a:off x="1905000" y="5639038"/>
            <a:ext cx="3098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SG" altLang="en-US" sz="1600" dirty="0">
              <a:solidFill>
                <a:srgbClr val="0070C0"/>
              </a:solidFill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600200" y="5363210"/>
            <a:ext cx="3978910" cy="53086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SG" altLang="en-US" sz="2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by  Nanang Puguh Wibowo</a:t>
            </a:r>
          </a:p>
          <a:p>
            <a:r>
              <a:rPr lang="en-SG" altLang="en-US" sz="2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3321685" y="2134235"/>
            <a:ext cx="462915" cy="31210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endParaRPr lang="en-SG" altLang="en-US" sz="3600" b="1" dirty="0">
              <a:solidFill>
                <a:srgbClr val="FF0000"/>
              </a:solidFill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735330" y="914400"/>
            <a:ext cx="5194935" cy="8788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SG" altLang="en-US" sz="2800" dirty="0">
                <a:solidFill>
                  <a:srgbClr val="0070C0"/>
                </a:solidFill>
              </a:rPr>
              <a:t>MANAJER PENGELOLA</a:t>
            </a:r>
            <a:endParaRPr lang="en-SG" altLang="en-US" sz="2000" dirty="0">
              <a:solidFill>
                <a:srgbClr val="0070C0"/>
              </a:solidFill>
            </a:endParaRPr>
          </a:p>
          <a:p>
            <a:pPr algn="r"/>
            <a:r>
              <a:rPr lang="en-SG" altLang="en-US" sz="2000" dirty="0">
                <a:solidFill>
                  <a:srgbClr val="0070C0"/>
                </a:solidFill>
              </a:rPr>
              <a:t> </a:t>
            </a:r>
            <a:r>
              <a:rPr lang="en-SG" altLang="en-US" sz="2800" dirty="0">
                <a:solidFill>
                  <a:srgbClr val="00B050"/>
                </a:solidFill>
              </a:rPr>
              <a:t>BANGUNAN GEDUNG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6D55E-E56B-4836-B6A4-A99E3C9F1F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14400"/>
            <a:ext cx="4495800" cy="685800"/>
          </a:xfrm>
        </p:spPr>
        <p:txBody>
          <a:bodyPr>
            <a:normAutofit fontScale="25000" lnSpcReduction="20000"/>
          </a:bodyPr>
          <a:lstStyle/>
          <a:p>
            <a:r>
              <a:rPr lang="en-SG" altLang="en-US" sz="8600" dirty="0">
                <a:solidFill>
                  <a:srgbClr val="0070C0"/>
                </a:solidFill>
              </a:rPr>
              <a:t>MANAJER PENGELOLA</a:t>
            </a:r>
          </a:p>
          <a:p>
            <a:pPr algn="r"/>
            <a:r>
              <a:rPr lang="en-SG" altLang="en-US" sz="8600" dirty="0">
                <a:solidFill>
                  <a:srgbClr val="0070C0"/>
                </a:solidFill>
              </a:rPr>
              <a:t> </a:t>
            </a:r>
            <a:r>
              <a:rPr lang="en-SG" altLang="en-US" sz="8600" dirty="0">
                <a:solidFill>
                  <a:srgbClr val="00B050"/>
                </a:solidFill>
              </a:rPr>
              <a:t>BANGUNAN GEDUNG</a:t>
            </a:r>
          </a:p>
          <a:p>
            <a:endParaRPr lang="en-ID" dirty="0"/>
          </a:p>
        </p:txBody>
      </p:sp>
      <p:pic>
        <p:nvPicPr>
          <p:cNvPr id="4" name="Picture 3" descr="The twisting tower agora">
            <a:extLst>
              <a:ext uri="{FF2B5EF4-FFF2-40B4-BE49-F238E27FC236}">
                <a16:creationId xmlns:a16="http://schemas.microsoft.com/office/drawing/2014/main" id="{D273DB73-F2AB-4ADE-B6C5-8C290B6EF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0445" y="862965"/>
            <a:ext cx="2405380" cy="52444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26A62AF-4B83-416C-9E92-B2B19A50412B}"/>
              </a:ext>
            </a:extLst>
          </p:cNvPr>
          <p:cNvSpPr txBox="1"/>
          <p:nvPr/>
        </p:nvSpPr>
        <p:spPr>
          <a:xfrm>
            <a:off x="757556" y="5943600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altLang="en-US" sz="18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by  </a:t>
            </a:r>
            <a:r>
              <a:rPr lang="en-SG" altLang="en-US" sz="1800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Nanang</a:t>
            </a:r>
            <a:r>
              <a:rPr lang="en-SG" altLang="en-US" sz="18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SG" altLang="en-US" sz="1800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Puguh</a:t>
            </a:r>
            <a:r>
              <a:rPr lang="en-SG" altLang="en-US" sz="18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Wibowo</a:t>
            </a:r>
          </a:p>
          <a:p>
            <a:r>
              <a:rPr lang="en-SG" altLang="en-US" sz="18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D5365C-417C-46E3-B159-8AE0225BCAF1}"/>
              </a:ext>
            </a:extLst>
          </p:cNvPr>
          <p:cNvSpPr txBox="1"/>
          <p:nvPr/>
        </p:nvSpPr>
        <p:spPr>
          <a:xfrm>
            <a:off x="1219200" y="3115865"/>
            <a:ext cx="3886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altLang="en-US" sz="3600" dirty="0">
                <a:solidFill>
                  <a:srgbClr val="FF0000"/>
                </a:solidFill>
              </a:rPr>
              <a:t>LATAR BELAKANG</a:t>
            </a:r>
          </a:p>
        </p:txBody>
      </p:sp>
    </p:spTree>
    <p:extLst>
      <p:ext uri="{BB962C8B-B14F-4D97-AF65-F5344CB8AC3E}">
        <p14:creationId xmlns:p14="http://schemas.microsoft.com/office/powerpoint/2010/main" val="2377704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349E0-1CE8-4FD8-86D8-F8D819FD9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74638"/>
            <a:ext cx="7924800" cy="639762"/>
          </a:xfrm>
        </p:spPr>
        <p:txBody>
          <a:bodyPr>
            <a:normAutofit/>
          </a:bodyPr>
          <a:lstStyle/>
          <a:p>
            <a:r>
              <a:rPr lang="en-SG" sz="2800" u="sng" dirty="0" err="1"/>
              <a:t>Illustrasi</a:t>
            </a:r>
            <a:r>
              <a:rPr lang="en-SG" sz="2800" u="sng" dirty="0"/>
              <a:t> : KONDISI KOTA</a:t>
            </a:r>
            <a:endParaRPr lang="en-ID" sz="2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40CE43-CB10-42A3-BE46-2BAE8296CB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156" y="894567"/>
            <a:ext cx="3743348" cy="30480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1E05C9-9434-458B-97A4-98E7E26594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3375764"/>
            <a:ext cx="4318348" cy="317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044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752EF-3F9B-4399-88FD-82C43E73C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08574"/>
          </a:xfrm>
        </p:spPr>
        <p:txBody>
          <a:bodyPr>
            <a:normAutofit/>
          </a:bodyPr>
          <a:lstStyle/>
          <a:p>
            <a:r>
              <a:rPr lang="en-SG" sz="2800" u="sng" dirty="0"/>
              <a:t>LATAR BELAKANG</a:t>
            </a:r>
            <a:endParaRPr lang="en-ID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8B99C-3383-4638-838D-D237AA28B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83212"/>
            <a:ext cx="8229600" cy="5317588"/>
          </a:xfrm>
        </p:spPr>
        <p:txBody>
          <a:bodyPr>
            <a:normAutofit/>
          </a:bodyPr>
          <a:lstStyle/>
          <a:p>
            <a:pPr marL="514350" indent="-514350" algn="just">
              <a:buAutoNum type="arabicPeriod"/>
            </a:pPr>
            <a:r>
              <a:rPr lang="en-SG" altLang="en-US" sz="2400" dirty="0" err="1"/>
              <a:t>Lahan</a:t>
            </a:r>
            <a:r>
              <a:rPr lang="en-SG" altLang="en-US" sz="2400" dirty="0"/>
              <a:t> &amp; </a:t>
            </a:r>
            <a:r>
              <a:rPr lang="en-SG" altLang="en-US" sz="2400" dirty="0" err="1"/>
              <a:t>daya</a:t>
            </a:r>
            <a:r>
              <a:rPr lang="en-SG" altLang="en-US" sz="2400" dirty="0"/>
              <a:t> </a:t>
            </a:r>
            <a:r>
              <a:rPr lang="en-SG" altLang="en-US" sz="2400" dirty="0" err="1"/>
              <a:t>dukung</a:t>
            </a:r>
            <a:r>
              <a:rPr lang="en-SG" altLang="en-US" sz="2400" dirty="0"/>
              <a:t> </a:t>
            </a:r>
            <a:r>
              <a:rPr lang="en-SG" altLang="en-US" sz="2400" dirty="0" err="1"/>
              <a:t>sumber</a:t>
            </a:r>
            <a:r>
              <a:rPr lang="en-SG" altLang="en-US" sz="2400" dirty="0"/>
              <a:t> </a:t>
            </a:r>
            <a:r>
              <a:rPr lang="en-SG" altLang="en-US" sz="2400" dirty="0" err="1"/>
              <a:t>daya</a:t>
            </a:r>
            <a:r>
              <a:rPr lang="en-SG" altLang="en-US" sz="2400" dirty="0"/>
              <a:t> </a:t>
            </a:r>
            <a:r>
              <a:rPr lang="en-SG" altLang="en-US" sz="2400" dirty="0" err="1"/>
              <a:t>alam</a:t>
            </a:r>
            <a:r>
              <a:rPr lang="en-SG" altLang="en-US" sz="2400" dirty="0"/>
              <a:t> yang </a:t>
            </a:r>
            <a:r>
              <a:rPr lang="en-SG" altLang="en-US" sz="2400" dirty="0" err="1"/>
              <a:t>terbatas</a:t>
            </a:r>
            <a:r>
              <a:rPr lang="en-SG" altLang="en-US" sz="2400" dirty="0"/>
              <a:t>.</a:t>
            </a:r>
          </a:p>
          <a:p>
            <a:pPr marL="514350" indent="-514350" algn="just">
              <a:buAutoNum type="arabicPeriod"/>
            </a:pPr>
            <a:r>
              <a:rPr lang="en-SG" altLang="en-US" sz="2400" dirty="0"/>
              <a:t>Harga </a:t>
            </a:r>
            <a:r>
              <a:rPr lang="en-SG" altLang="en-US" sz="2400" dirty="0" err="1"/>
              <a:t>lahan</a:t>
            </a:r>
            <a:r>
              <a:rPr lang="en-SG" altLang="en-US" sz="2400" dirty="0"/>
              <a:t> </a:t>
            </a:r>
            <a:r>
              <a:rPr lang="en-SG" altLang="en-US" sz="2400" dirty="0" err="1"/>
              <a:t>tinggi</a:t>
            </a:r>
            <a:r>
              <a:rPr lang="en-SG" altLang="en-US" sz="2400" dirty="0"/>
              <a:t>/premium</a:t>
            </a:r>
          </a:p>
          <a:p>
            <a:pPr marL="514350" indent="-514350" algn="just">
              <a:buAutoNum type="arabicPeriod"/>
            </a:pPr>
            <a:r>
              <a:rPr lang="en-SG" altLang="en-US" sz="2400" dirty="0" err="1"/>
              <a:t>Perkembangan</a:t>
            </a:r>
            <a:r>
              <a:rPr lang="en-SG" altLang="en-US" sz="2400" dirty="0"/>
              <a:t> </a:t>
            </a:r>
            <a:r>
              <a:rPr lang="en-SG" altLang="en-US" sz="2400" dirty="0" err="1"/>
              <a:t>jumlah</a:t>
            </a:r>
            <a:r>
              <a:rPr lang="en-SG" altLang="en-US" sz="2400" dirty="0"/>
              <a:t> </a:t>
            </a:r>
            <a:r>
              <a:rPr lang="en-SG" altLang="en-US" sz="2400" dirty="0" err="1"/>
              <a:t>penduduk</a:t>
            </a:r>
            <a:r>
              <a:rPr lang="en-SG" altLang="en-US" sz="2400" dirty="0"/>
              <a:t> yang </a:t>
            </a:r>
            <a:r>
              <a:rPr lang="en-SG" altLang="en-US" sz="2400" dirty="0" err="1"/>
              <a:t>pesat</a:t>
            </a:r>
            <a:endParaRPr lang="en-SG" altLang="en-US" sz="2400" dirty="0"/>
          </a:p>
          <a:p>
            <a:pPr marL="514350" indent="-514350" algn="just">
              <a:buAutoNum type="arabicPeriod"/>
            </a:pPr>
            <a:r>
              <a:rPr lang="en-SG" altLang="en-US" sz="2400" dirty="0" err="1">
                <a:sym typeface="+mn-ea"/>
              </a:rPr>
              <a:t>Perubahan</a:t>
            </a:r>
            <a:r>
              <a:rPr lang="en-SG" altLang="en-US" sz="2400" dirty="0">
                <a:sym typeface="+mn-ea"/>
              </a:rPr>
              <a:t> zaman </a:t>
            </a:r>
            <a:r>
              <a:rPr lang="en-SG" altLang="en-US" sz="2400" dirty="0" err="1">
                <a:sym typeface="+mn-ea"/>
              </a:rPr>
              <a:t>saat</a:t>
            </a:r>
            <a:r>
              <a:rPr lang="en-SG" altLang="en-US" sz="2400" dirty="0">
                <a:sym typeface="+mn-ea"/>
              </a:rPr>
              <a:t> </a:t>
            </a:r>
            <a:r>
              <a:rPr lang="en-SG" altLang="en-US" sz="2400">
                <a:sym typeface="+mn-ea"/>
              </a:rPr>
              <a:t>ini </a:t>
            </a:r>
            <a:r>
              <a:rPr lang="en-SG" altLang="en-US" sz="2400" dirty="0">
                <a:sym typeface="+mn-ea"/>
              </a:rPr>
              <a:t>era 4.0</a:t>
            </a:r>
          </a:p>
          <a:p>
            <a:pPr marL="514350" indent="-514350" algn="just">
              <a:buAutoNum type="arabicPeriod"/>
            </a:pPr>
            <a:r>
              <a:rPr lang="en-SG" altLang="en-US" sz="2400" dirty="0">
                <a:sym typeface="+mn-ea"/>
              </a:rPr>
              <a:t>Global Warming</a:t>
            </a:r>
          </a:p>
        </p:txBody>
      </p:sp>
    </p:spTree>
    <p:extLst>
      <p:ext uri="{BB962C8B-B14F-4D97-AF65-F5344CB8AC3E}">
        <p14:creationId xmlns:p14="http://schemas.microsoft.com/office/powerpoint/2010/main" val="2409586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B1B26-8C43-4E6E-93C3-2B28ADC35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162"/>
            <a:ext cx="8229600" cy="1044258"/>
          </a:xfrm>
        </p:spPr>
        <p:txBody>
          <a:bodyPr>
            <a:normAutofit/>
          </a:bodyPr>
          <a:lstStyle/>
          <a:p>
            <a:r>
              <a:rPr lang="en-SG" altLang="en-US" sz="2800" i="1" dirty="0">
                <a:sym typeface="+mn-ea"/>
              </a:rPr>
              <a:t>PERUBAHAN DUNIA &amp; KONDISI EXISTING GEDUNG di DKI Jakarta</a:t>
            </a:r>
            <a:endParaRPr lang="en-ID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93A41-0578-4760-9A70-723BACF8F3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18419"/>
            <a:ext cx="8229600" cy="1828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altLang="en-US" sz="1700" b="1" dirty="0" err="1">
                <a:sym typeface="+mn-ea"/>
              </a:rPr>
              <a:t>Perubahan</a:t>
            </a:r>
            <a:r>
              <a:rPr lang="en-SG" altLang="en-US" sz="1700" b="1" dirty="0">
                <a:sym typeface="+mn-ea"/>
              </a:rPr>
              <a:t> Dunia </a:t>
            </a:r>
            <a:r>
              <a:rPr lang="en-SG" altLang="en-US" sz="1700" b="1" dirty="0" err="1">
                <a:sym typeface="+mn-ea"/>
              </a:rPr>
              <a:t>saat</a:t>
            </a:r>
            <a:r>
              <a:rPr lang="en-SG" altLang="en-US" sz="1700" b="1" dirty="0">
                <a:sym typeface="+mn-ea"/>
              </a:rPr>
              <a:t> </a:t>
            </a:r>
            <a:r>
              <a:rPr lang="en-SG" altLang="en-US" sz="1700" b="1" dirty="0" err="1">
                <a:sym typeface="+mn-ea"/>
              </a:rPr>
              <a:t>ini</a:t>
            </a:r>
            <a:r>
              <a:rPr lang="en-SG" altLang="en-US" sz="1700" b="1" dirty="0">
                <a:sym typeface="+mn-ea"/>
              </a:rPr>
              <a:t> </a:t>
            </a:r>
            <a:r>
              <a:rPr lang="en-SG" altLang="en-US" sz="1700" b="1" dirty="0" err="1">
                <a:sym typeface="+mn-ea"/>
              </a:rPr>
              <a:t>ditandai</a:t>
            </a:r>
            <a:r>
              <a:rPr lang="en-SG" altLang="en-US" sz="1700" b="1" dirty="0">
                <a:sym typeface="+mn-ea"/>
              </a:rPr>
              <a:t>  </a:t>
            </a:r>
            <a:r>
              <a:rPr lang="en-SG" altLang="en-US" sz="1700" b="1" dirty="0" err="1">
                <a:sym typeface="+mn-ea"/>
              </a:rPr>
              <a:t>dengan</a:t>
            </a:r>
            <a:r>
              <a:rPr lang="en-SG" altLang="en-US" sz="1700" b="1" dirty="0">
                <a:sym typeface="+mn-ea"/>
              </a:rPr>
              <a:t> :</a:t>
            </a:r>
            <a:endParaRPr lang="en-SG" altLang="en-US" sz="1700" b="1" dirty="0">
              <a:solidFill>
                <a:schemeClr val="tx1"/>
              </a:solidFill>
            </a:endParaRPr>
          </a:p>
          <a:p>
            <a:r>
              <a:rPr lang="en-SG" altLang="en-US" sz="1700" dirty="0">
                <a:sym typeface="+mn-ea"/>
              </a:rPr>
              <a:t>1.Revolusi 4.0, </a:t>
            </a:r>
            <a:r>
              <a:rPr lang="en-SG" altLang="en-US" sz="1700" dirty="0" err="1">
                <a:sym typeface="+mn-ea"/>
              </a:rPr>
              <a:t>penerapan</a:t>
            </a:r>
            <a:r>
              <a:rPr lang="en-SG" altLang="en-US" sz="1700" dirty="0">
                <a:sym typeface="+mn-ea"/>
              </a:rPr>
              <a:t> </a:t>
            </a:r>
            <a:r>
              <a:rPr lang="en-SG" altLang="en-US" sz="1700" dirty="0" err="1">
                <a:sym typeface="+mn-ea"/>
              </a:rPr>
              <a:t>teknologi</a:t>
            </a:r>
            <a:r>
              <a:rPr lang="en-SG" altLang="en-US" sz="1700" dirty="0">
                <a:sym typeface="+mn-ea"/>
              </a:rPr>
              <a:t> modern dan </a:t>
            </a:r>
            <a:r>
              <a:rPr lang="en-SG" altLang="en-US" sz="1700" dirty="0" err="1">
                <a:sym typeface="+mn-ea"/>
              </a:rPr>
              <a:t>sistem</a:t>
            </a:r>
            <a:r>
              <a:rPr lang="en-SG" altLang="en-US" sz="1700" dirty="0">
                <a:sym typeface="+mn-ea"/>
              </a:rPr>
              <a:t> </a:t>
            </a:r>
            <a:r>
              <a:rPr lang="en-SG" altLang="en-US" sz="1700" dirty="0" err="1">
                <a:sym typeface="+mn-ea"/>
              </a:rPr>
              <a:t>jaringan</a:t>
            </a:r>
            <a:r>
              <a:rPr lang="en-SG" altLang="en-US" sz="1700" dirty="0">
                <a:sym typeface="+mn-ea"/>
              </a:rPr>
              <a:t> yang </a:t>
            </a:r>
            <a:r>
              <a:rPr lang="en-SG" altLang="en-US" sz="1700" dirty="0" err="1">
                <a:sym typeface="+mn-ea"/>
              </a:rPr>
              <a:t>terintegrasi</a:t>
            </a:r>
            <a:r>
              <a:rPr lang="en-SG" altLang="en-US" sz="1700" dirty="0">
                <a:sym typeface="+mn-ea"/>
              </a:rPr>
              <a:t> yang </a:t>
            </a:r>
            <a:r>
              <a:rPr lang="en-SG" altLang="en-US" sz="1700" dirty="0" err="1">
                <a:sym typeface="+mn-ea"/>
              </a:rPr>
              <a:t>bekerja</a:t>
            </a:r>
            <a:r>
              <a:rPr lang="en-SG" altLang="en-US" sz="1700" dirty="0">
                <a:sym typeface="+mn-ea"/>
              </a:rPr>
              <a:t> </a:t>
            </a:r>
            <a:r>
              <a:rPr lang="en-SG" altLang="en-US" sz="1700" dirty="0" err="1">
                <a:sym typeface="+mn-ea"/>
              </a:rPr>
              <a:t>disetiap</a:t>
            </a:r>
            <a:r>
              <a:rPr lang="en-SG" altLang="en-US" sz="1700" dirty="0">
                <a:sym typeface="+mn-ea"/>
              </a:rPr>
              <a:t> </a:t>
            </a:r>
            <a:r>
              <a:rPr lang="en-SG" altLang="en-US" sz="1700" dirty="0" err="1">
                <a:sym typeface="+mn-ea"/>
              </a:rPr>
              <a:t>aktivitas</a:t>
            </a:r>
            <a:r>
              <a:rPr lang="en-SG" altLang="en-US" sz="1700" dirty="0">
                <a:sym typeface="+mn-ea"/>
              </a:rPr>
              <a:t> </a:t>
            </a:r>
            <a:r>
              <a:rPr lang="en-SG" altLang="en-US" sz="1700" dirty="0" err="1">
                <a:sym typeface="+mn-ea"/>
              </a:rPr>
              <a:t>ekonomi</a:t>
            </a:r>
            <a:r>
              <a:rPr lang="en-SG" altLang="en-US" sz="1700" dirty="0">
                <a:sym typeface="+mn-ea"/>
              </a:rPr>
              <a:t> </a:t>
            </a:r>
            <a:r>
              <a:rPr lang="en-SG" altLang="en-US" sz="1700" dirty="0" err="1">
                <a:sym typeface="+mn-ea"/>
              </a:rPr>
              <a:t>dari</a:t>
            </a:r>
            <a:r>
              <a:rPr lang="en-SG" altLang="en-US" sz="1700" dirty="0">
                <a:sym typeface="+mn-ea"/>
              </a:rPr>
              <a:t> </a:t>
            </a:r>
            <a:r>
              <a:rPr lang="en-SG" altLang="en-US" sz="1700" dirty="0" err="1">
                <a:sym typeface="+mn-ea"/>
              </a:rPr>
              <a:t>produksi</a:t>
            </a:r>
            <a:r>
              <a:rPr lang="en-SG" altLang="en-US" sz="1700" dirty="0">
                <a:sym typeface="+mn-ea"/>
              </a:rPr>
              <a:t> </a:t>
            </a:r>
            <a:r>
              <a:rPr lang="en-SG" altLang="en-US" sz="1700" dirty="0" err="1">
                <a:sym typeface="+mn-ea"/>
              </a:rPr>
              <a:t>hingga</a:t>
            </a:r>
            <a:r>
              <a:rPr lang="en-SG" altLang="en-US" sz="1700" dirty="0">
                <a:sym typeface="+mn-ea"/>
              </a:rPr>
              <a:t> </a:t>
            </a:r>
            <a:r>
              <a:rPr lang="en-SG" altLang="en-US" sz="1700" dirty="0" err="1">
                <a:sym typeface="+mn-ea"/>
              </a:rPr>
              <a:t>kosumsi</a:t>
            </a:r>
            <a:r>
              <a:rPr lang="en-SG" altLang="en-US" sz="1700" dirty="0">
                <a:sym typeface="+mn-ea"/>
              </a:rPr>
              <a:t> (</a:t>
            </a:r>
            <a:r>
              <a:rPr lang="en-SG" altLang="en-US" sz="1700" i="1" dirty="0" err="1">
                <a:sym typeface="+mn-ea"/>
              </a:rPr>
              <a:t>Lebih</a:t>
            </a:r>
            <a:r>
              <a:rPr lang="en-SG" altLang="en-US" sz="1700" i="1" dirty="0">
                <a:sym typeface="+mn-ea"/>
              </a:rPr>
              <a:t> </a:t>
            </a:r>
            <a:r>
              <a:rPr lang="en-SG" altLang="en-US" sz="1700" i="1" dirty="0" err="1">
                <a:sym typeface="+mn-ea"/>
              </a:rPr>
              <a:t>Dekat</a:t>
            </a:r>
            <a:r>
              <a:rPr lang="en-SG" altLang="en-US" sz="1700" i="1" dirty="0">
                <a:sym typeface="+mn-ea"/>
              </a:rPr>
              <a:t> </a:t>
            </a:r>
            <a:r>
              <a:rPr lang="en-SG" altLang="en-US" sz="1700" i="1" dirty="0" err="1">
                <a:sym typeface="+mn-ea"/>
              </a:rPr>
              <a:t>dengan</a:t>
            </a:r>
            <a:r>
              <a:rPr lang="en-SG" altLang="en-US" sz="1700" i="1" dirty="0">
                <a:sym typeface="+mn-ea"/>
              </a:rPr>
              <a:t> </a:t>
            </a:r>
            <a:r>
              <a:rPr lang="en-SG" altLang="en-US" sz="1700" i="1" dirty="0" err="1">
                <a:sym typeface="+mn-ea"/>
              </a:rPr>
              <a:t>Industri</a:t>
            </a:r>
            <a:r>
              <a:rPr lang="en-SG" altLang="en-US" sz="1700" i="1" dirty="0">
                <a:sym typeface="+mn-ea"/>
              </a:rPr>
              <a:t> 4.0,Akmal </a:t>
            </a:r>
            <a:r>
              <a:rPr lang="en-SG" altLang="en-US" sz="1700" dirty="0">
                <a:sym typeface="+mn-ea"/>
              </a:rPr>
              <a:t>). Machine Learning &amp; Artificial </a:t>
            </a:r>
            <a:r>
              <a:rPr lang="en-SG" altLang="en-US" sz="1700" dirty="0" err="1">
                <a:sym typeface="+mn-ea"/>
              </a:rPr>
              <a:t>Inteligent</a:t>
            </a:r>
            <a:endParaRPr lang="en-SG" altLang="en-US" sz="1700" dirty="0">
              <a:solidFill>
                <a:schemeClr val="tx1"/>
              </a:solidFill>
            </a:endParaRPr>
          </a:p>
          <a:p>
            <a:r>
              <a:rPr lang="en-SG" altLang="en-US" sz="1700" dirty="0">
                <a:sym typeface="+mn-ea"/>
              </a:rPr>
              <a:t>2. </a:t>
            </a:r>
            <a:r>
              <a:rPr lang="en-SG" altLang="en-US" sz="1700" dirty="0" err="1">
                <a:sym typeface="+mn-ea"/>
              </a:rPr>
              <a:t>Perubahan</a:t>
            </a:r>
            <a:r>
              <a:rPr lang="en-SG" altLang="en-US" sz="1700" dirty="0">
                <a:sym typeface="+mn-ea"/>
              </a:rPr>
              <a:t> </a:t>
            </a:r>
            <a:r>
              <a:rPr lang="en-SG" altLang="en-US" sz="1700" dirty="0" err="1">
                <a:sym typeface="+mn-ea"/>
              </a:rPr>
              <a:t>Iklim</a:t>
            </a:r>
            <a:r>
              <a:rPr lang="en-SG" altLang="en-US" sz="1700" dirty="0">
                <a:sym typeface="+mn-ea"/>
              </a:rPr>
              <a:t> dunia, ”global warming”, </a:t>
            </a:r>
            <a:r>
              <a:rPr lang="en-SG" altLang="en-US" sz="1700" dirty="0" err="1">
                <a:sym typeface="+mn-ea"/>
              </a:rPr>
              <a:t>Polusi</a:t>
            </a:r>
            <a:r>
              <a:rPr lang="en-SG" altLang="en-US" sz="1700" dirty="0">
                <a:sym typeface="+mn-ea"/>
              </a:rPr>
              <a:t> </a:t>
            </a:r>
            <a:r>
              <a:rPr lang="en-SG" altLang="en-US" sz="1700" dirty="0" err="1">
                <a:sym typeface="+mn-ea"/>
              </a:rPr>
              <a:t>bertambah</a:t>
            </a:r>
            <a:r>
              <a:rPr lang="en-SG" altLang="en-US" sz="1700" dirty="0">
                <a:sym typeface="+mn-ea"/>
              </a:rPr>
              <a:t> &amp; </a:t>
            </a:r>
            <a:r>
              <a:rPr lang="en-SG" altLang="en-US" sz="1700" dirty="0" err="1">
                <a:sym typeface="+mn-ea"/>
              </a:rPr>
              <a:t>Daya</a:t>
            </a:r>
            <a:r>
              <a:rPr lang="en-SG" altLang="en-US" sz="1700" dirty="0">
                <a:sym typeface="+mn-ea"/>
              </a:rPr>
              <a:t> </a:t>
            </a:r>
            <a:r>
              <a:rPr lang="en-SG" altLang="en-US" sz="1700" dirty="0" err="1">
                <a:sym typeface="+mn-ea"/>
              </a:rPr>
              <a:t>dukung</a:t>
            </a:r>
            <a:r>
              <a:rPr lang="en-SG" altLang="en-US" sz="1700" dirty="0">
                <a:sym typeface="+mn-ea"/>
              </a:rPr>
              <a:t>  </a:t>
            </a:r>
            <a:r>
              <a:rPr lang="en-SG" altLang="en-US" sz="1700" dirty="0" err="1">
                <a:sym typeface="+mn-ea"/>
              </a:rPr>
              <a:t>sumber</a:t>
            </a:r>
            <a:r>
              <a:rPr lang="en-SG" altLang="en-US" sz="1700" dirty="0">
                <a:sym typeface="+mn-ea"/>
              </a:rPr>
              <a:t> </a:t>
            </a:r>
            <a:r>
              <a:rPr lang="en-SG" altLang="en-US" sz="1700" dirty="0" err="1">
                <a:sym typeface="+mn-ea"/>
              </a:rPr>
              <a:t>daya</a:t>
            </a:r>
            <a:r>
              <a:rPr lang="en-SG" altLang="en-US" sz="1700" dirty="0">
                <a:sym typeface="+mn-ea"/>
              </a:rPr>
              <a:t> </a:t>
            </a:r>
            <a:r>
              <a:rPr lang="en-SG" altLang="en-US" sz="1700" dirty="0" err="1">
                <a:sym typeface="+mn-ea"/>
              </a:rPr>
              <a:t>alam</a:t>
            </a:r>
            <a:r>
              <a:rPr lang="en-SG" altLang="en-US" sz="1700" dirty="0">
                <a:sym typeface="+mn-ea"/>
              </a:rPr>
              <a:t> yang </a:t>
            </a:r>
            <a:r>
              <a:rPr lang="en-SG" altLang="en-US" sz="1700" dirty="0" err="1">
                <a:sym typeface="+mn-ea"/>
              </a:rPr>
              <a:t>semakin</a:t>
            </a:r>
            <a:r>
              <a:rPr lang="en-SG" altLang="en-US" sz="1700" dirty="0">
                <a:sym typeface="+mn-ea"/>
              </a:rPr>
              <a:t> </a:t>
            </a:r>
            <a:r>
              <a:rPr lang="en-SG" altLang="en-US" sz="1700" dirty="0" err="1">
                <a:sym typeface="+mn-ea"/>
              </a:rPr>
              <a:t>berkurang</a:t>
            </a:r>
            <a:r>
              <a:rPr lang="en-SG" altLang="en-US" sz="1700" dirty="0">
                <a:sym typeface="+mn-ea"/>
              </a:rPr>
              <a:t> </a:t>
            </a:r>
            <a:r>
              <a:rPr lang="en-SG" altLang="en-US" sz="1700" b="1" i="1" dirty="0">
                <a:solidFill>
                  <a:srgbClr val="FF0000"/>
                </a:solidFill>
                <a:sym typeface="+mn-ea"/>
              </a:rPr>
              <a:t>(Triple Planetary Crisis)</a:t>
            </a:r>
            <a:endParaRPr lang="en-SG" altLang="en-US" sz="1700" b="1" i="1" dirty="0">
              <a:solidFill>
                <a:srgbClr val="FF0000"/>
              </a:solidFill>
            </a:endParaRPr>
          </a:p>
          <a:p>
            <a:endParaRPr lang="en-ID" dirty="0"/>
          </a:p>
        </p:txBody>
      </p:sp>
      <p:pic>
        <p:nvPicPr>
          <p:cNvPr id="4" name="Content Placeholder 3" descr="WhatsApp Image 2023-11-01 at 20.27.59">
            <a:extLst>
              <a:ext uri="{FF2B5EF4-FFF2-40B4-BE49-F238E27FC236}">
                <a16:creationId xmlns:a16="http://schemas.microsoft.com/office/drawing/2014/main" id="{C5078644-3502-45A0-BE07-7A60A77F3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015" y="3147219"/>
            <a:ext cx="4077970" cy="3436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821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5F565-05A6-43CE-B637-BF47718B8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altLang="en-US" sz="2800" b="1" i="1" dirty="0">
                <a:sym typeface="+mn-ea"/>
              </a:rPr>
              <a:t>Dari </a:t>
            </a:r>
            <a:r>
              <a:rPr lang="en-SG" altLang="en-US" sz="2800" b="1" i="1" dirty="0" err="1">
                <a:sym typeface="+mn-ea"/>
              </a:rPr>
              <a:t>pengamatan</a:t>
            </a:r>
            <a:r>
              <a:rPr lang="en-SG" altLang="en-US" sz="2800" b="1" i="1" dirty="0">
                <a:sym typeface="+mn-ea"/>
              </a:rPr>
              <a:t> </a:t>
            </a:r>
            <a:r>
              <a:rPr lang="en-SG" altLang="en-US" sz="2800" b="1" i="1" dirty="0" err="1">
                <a:sym typeface="+mn-ea"/>
              </a:rPr>
              <a:t>keadaan</a:t>
            </a:r>
            <a:r>
              <a:rPr lang="en-SG" altLang="en-US" sz="2800" b="1" i="1" dirty="0">
                <a:sym typeface="+mn-ea"/>
              </a:rPr>
              <a:t> </a:t>
            </a:r>
            <a:r>
              <a:rPr lang="en-SG" altLang="en-US" sz="2800" b="1" i="1" dirty="0" err="1">
                <a:sym typeface="+mn-ea"/>
              </a:rPr>
              <a:t>gedung</a:t>
            </a:r>
            <a:r>
              <a:rPr lang="en-SG" altLang="en-US" sz="2800" b="1" i="1" dirty="0">
                <a:sym typeface="+mn-ea"/>
              </a:rPr>
              <a:t> </a:t>
            </a:r>
            <a:r>
              <a:rPr lang="en-SG" altLang="en-US" sz="2800" b="1" i="1" dirty="0" err="1">
                <a:sym typeface="+mn-ea"/>
              </a:rPr>
              <a:t>gedung</a:t>
            </a:r>
            <a:r>
              <a:rPr lang="en-SG" altLang="en-US" sz="2800" b="1" i="1" dirty="0">
                <a:sym typeface="+mn-ea"/>
              </a:rPr>
              <a:t> di DKI Jakarta </a:t>
            </a:r>
            <a:r>
              <a:rPr lang="en-SG" altLang="en-US" sz="2800" b="1" i="1" dirty="0" err="1">
                <a:sym typeface="+mn-ea"/>
              </a:rPr>
              <a:t>adalah</a:t>
            </a:r>
            <a:r>
              <a:rPr lang="en-SG" altLang="en-US" sz="2800" b="1" i="1" dirty="0">
                <a:sym typeface="+mn-ea"/>
              </a:rPr>
              <a:t> </a:t>
            </a:r>
            <a:r>
              <a:rPr lang="en-SG" altLang="en-US" sz="2800" b="1" i="1" dirty="0" err="1">
                <a:sym typeface="+mn-ea"/>
              </a:rPr>
              <a:t>sbb</a:t>
            </a:r>
            <a:r>
              <a:rPr lang="en-SG" altLang="en-US" sz="2800" b="1" i="1" dirty="0">
                <a:sym typeface="+mn-ea"/>
              </a:rPr>
              <a:t> :</a:t>
            </a:r>
            <a:br>
              <a:rPr lang="en-SG" altLang="en-US" sz="2800" b="1" i="1" dirty="0">
                <a:sym typeface="+mn-ea"/>
              </a:rPr>
            </a:br>
            <a:endParaRPr lang="en-ID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4F594-51A1-4674-8E34-1E3BFF0A6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724401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lang="en-SG" altLang="en-US" b="1" i="1" dirty="0">
              <a:sym typeface="+mn-ea"/>
            </a:endParaRPr>
          </a:p>
          <a:p>
            <a:pPr marL="0" indent="0">
              <a:buNone/>
            </a:pPr>
            <a:endParaRPr lang="en-SG" altLang="en-US" b="1" i="1" dirty="0">
              <a:solidFill>
                <a:schemeClr val="tx1"/>
              </a:solidFill>
            </a:endParaRPr>
          </a:p>
          <a:p>
            <a:r>
              <a:rPr lang="en-SG" altLang="en-US" dirty="0">
                <a:sym typeface="+mn-ea"/>
              </a:rPr>
              <a:t>1. </a:t>
            </a:r>
            <a:r>
              <a:rPr lang="en-SG" altLang="en-US" dirty="0" err="1">
                <a:sym typeface="+mn-ea"/>
              </a:rPr>
              <a:t>Inefisiensi</a:t>
            </a:r>
            <a:r>
              <a:rPr lang="en-SG" altLang="en-US" dirty="0">
                <a:sym typeface="+mn-ea"/>
              </a:rPr>
              <a:t> </a:t>
            </a:r>
            <a:r>
              <a:rPr lang="en-SG" altLang="en-US" dirty="0" err="1">
                <a:sym typeface="+mn-ea"/>
              </a:rPr>
              <a:t>ruang</a:t>
            </a:r>
            <a:r>
              <a:rPr lang="en-SG" altLang="en-US" dirty="0">
                <a:sym typeface="+mn-ea"/>
              </a:rPr>
              <a:t>,</a:t>
            </a:r>
            <a:endParaRPr lang="en-SG" altLang="en-US" dirty="0">
              <a:solidFill>
                <a:schemeClr val="tx1"/>
              </a:solidFill>
            </a:endParaRPr>
          </a:p>
          <a:p>
            <a:r>
              <a:rPr lang="en-SG" altLang="en-US" dirty="0">
                <a:sym typeface="+mn-ea"/>
              </a:rPr>
              <a:t>2.Penumpukan </a:t>
            </a:r>
            <a:r>
              <a:rPr lang="en-SG" altLang="en-US" dirty="0" err="1">
                <a:sym typeface="+mn-ea"/>
              </a:rPr>
              <a:t>barang</a:t>
            </a:r>
            <a:r>
              <a:rPr lang="en-SG" altLang="en-US" dirty="0">
                <a:sym typeface="+mn-ea"/>
              </a:rPr>
              <a:t>/</a:t>
            </a:r>
            <a:r>
              <a:rPr lang="en-SG" altLang="en-US" dirty="0" err="1">
                <a:sym typeface="+mn-ea"/>
              </a:rPr>
              <a:t>aset</a:t>
            </a:r>
            <a:r>
              <a:rPr lang="en-SG" altLang="en-US" dirty="0">
                <a:sym typeface="+mn-ea"/>
              </a:rPr>
              <a:t> </a:t>
            </a:r>
            <a:r>
              <a:rPr lang="en-SG" altLang="en-US" dirty="0" err="1">
                <a:sym typeface="+mn-ea"/>
              </a:rPr>
              <a:t>yg</a:t>
            </a:r>
            <a:r>
              <a:rPr lang="en-SG" altLang="en-US" dirty="0">
                <a:sym typeface="+mn-ea"/>
              </a:rPr>
              <a:t> </a:t>
            </a:r>
            <a:r>
              <a:rPr lang="en-SG" altLang="en-US" dirty="0" err="1">
                <a:sym typeface="+mn-ea"/>
              </a:rPr>
              <a:t>tidak</a:t>
            </a:r>
            <a:r>
              <a:rPr lang="en-SG" altLang="en-US" dirty="0">
                <a:sym typeface="+mn-ea"/>
              </a:rPr>
              <a:t> </a:t>
            </a:r>
            <a:r>
              <a:rPr lang="en-SG" altLang="en-US" dirty="0" err="1">
                <a:sym typeface="+mn-ea"/>
              </a:rPr>
              <a:t>terpakai</a:t>
            </a:r>
            <a:r>
              <a:rPr lang="en-SG" altLang="en-US" dirty="0">
                <a:sym typeface="+mn-ea"/>
              </a:rPr>
              <a:t> di </a:t>
            </a:r>
            <a:r>
              <a:rPr lang="en-SG" altLang="en-US" dirty="0" err="1">
                <a:sym typeface="+mn-ea"/>
              </a:rPr>
              <a:t>ruang</a:t>
            </a:r>
            <a:r>
              <a:rPr lang="en-SG" altLang="en-US" dirty="0">
                <a:sym typeface="+mn-ea"/>
              </a:rPr>
              <a:t>/</a:t>
            </a:r>
            <a:r>
              <a:rPr lang="en-SG" altLang="en-US" dirty="0" err="1">
                <a:sym typeface="+mn-ea"/>
              </a:rPr>
              <a:t>halaman</a:t>
            </a:r>
            <a:r>
              <a:rPr lang="en-SG" altLang="en-US" dirty="0">
                <a:sym typeface="+mn-ea"/>
              </a:rPr>
              <a:t> </a:t>
            </a:r>
            <a:r>
              <a:rPr lang="en-SG" altLang="en-US" dirty="0" err="1">
                <a:sym typeface="+mn-ea"/>
              </a:rPr>
              <a:t>gedung</a:t>
            </a:r>
            <a:endParaRPr lang="en-SG" altLang="en-US" dirty="0">
              <a:solidFill>
                <a:schemeClr val="tx1"/>
              </a:solidFill>
            </a:endParaRPr>
          </a:p>
          <a:p>
            <a:r>
              <a:rPr lang="en-SG" altLang="en-US" dirty="0">
                <a:sym typeface="+mn-ea"/>
              </a:rPr>
              <a:t>3.Pengolahan </a:t>
            </a:r>
            <a:r>
              <a:rPr lang="en-SG" altLang="en-US" dirty="0" err="1">
                <a:sym typeface="+mn-ea"/>
              </a:rPr>
              <a:t>sampah</a:t>
            </a:r>
            <a:r>
              <a:rPr lang="en-SG" altLang="en-US" dirty="0">
                <a:sym typeface="+mn-ea"/>
              </a:rPr>
              <a:t> </a:t>
            </a:r>
            <a:r>
              <a:rPr lang="en-SG" altLang="en-US" dirty="0" err="1">
                <a:sym typeface="+mn-ea"/>
              </a:rPr>
              <a:t>yg</a:t>
            </a:r>
            <a:r>
              <a:rPr lang="en-SG" altLang="en-US" dirty="0">
                <a:sym typeface="+mn-ea"/>
              </a:rPr>
              <a:t> </a:t>
            </a:r>
            <a:r>
              <a:rPr lang="en-SG" altLang="en-US" dirty="0" err="1">
                <a:sym typeface="+mn-ea"/>
              </a:rPr>
              <a:t>kurang</a:t>
            </a:r>
            <a:r>
              <a:rPr lang="en-SG" altLang="en-US" dirty="0">
                <a:sym typeface="+mn-ea"/>
              </a:rPr>
              <a:t> </a:t>
            </a:r>
            <a:r>
              <a:rPr lang="en-SG" altLang="en-US" dirty="0" err="1">
                <a:sym typeface="+mn-ea"/>
              </a:rPr>
              <a:t>mendapat</a:t>
            </a:r>
            <a:r>
              <a:rPr lang="en-SG" altLang="en-US" dirty="0">
                <a:sym typeface="+mn-ea"/>
              </a:rPr>
              <a:t> </a:t>
            </a:r>
            <a:r>
              <a:rPr lang="en-SG" altLang="en-US" dirty="0" err="1">
                <a:sym typeface="+mn-ea"/>
              </a:rPr>
              <a:t>perhatian</a:t>
            </a:r>
            <a:r>
              <a:rPr lang="en-SG" altLang="en-US" dirty="0">
                <a:sym typeface="+mn-ea"/>
              </a:rPr>
              <a:t>.</a:t>
            </a:r>
            <a:endParaRPr lang="en-SG" altLang="en-US" dirty="0">
              <a:solidFill>
                <a:schemeClr val="tx1"/>
              </a:solidFill>
            </a:endParaRPr>
          </a:p>
          <a:p>
            <a:r>
              <a:rPr lang="en-SG" altLang="en-US" dirty="0">
                <a:sym typeface="+mn-ea"/>
              </a:rPr>
              <a:t>4.Penggunaan </a:t>
            </a:r>
            <a:r>
              <a:rPr lang="en-SG" altLang="en-US" dirty="0" err="1">
                <a:sym typeface="+mn-ea"/>
              </a:rPr>
              <a:t>Energi</a:t>
            </a:r>
            <a:r>
              <a:rPr lang="en-SG" altLang="en-US" dirty="0">
                <a:sym typeface="+mn-ea"/>
              </a:rPr>
              <a:t> </a:t>
            </a:r>
            <a:r>
              <a:rPr lang="en-SG" altLang="en-US" dirty="0" err="1">
                <a:sym typeface="+mn-ea"/>
              </a:rPr>
              <a:t>listrik</a:t>
            </a:r>
            <a:r>
              <a:rPr lang="en-SG" altLang="en-US" dirty="0">
                <a:sym typeface="+mn-ea"/>
              </a:rPr>
              <a:t> &amp; air </a:t>
            </a:r>
            <a:r>
              <a:rPr lang="en-SG" altLang="en-US" dirty="0" err="1">
                <a:sym typeface="+mn-ea"/>
              </a:rPr>
              <a:t>yg</a:t>
            </a:r>
            <a:r>
              <a:rPr lang="en-SG" altLang="en-US" dirty="0">
                <a:sym typeface="+mn-ea"/>
              </a:rPr>
              <a:t> </a:t>
            </a:r>
            <a:r>
              <a:rPr lang="en-SG" altLang="en-US" dirty="0" err="1">
                <a:sym typeface="+mn-ea"/>
              </a:rPr>
              <a:t>tidak</a:t>
            </a:r>
            <a:r>
              <a:rPr lang="en-SG" altLang="en-US" dirty="0">
                <a:sym typeface="+mn-ea"/>
              </a:rPr>
              <a:t> </a:t>
            </a:r>
            <a:r>
              <a:rPr lang="en-SG" altLang="en-US" dirty="0" err="1">
                <a:sym typeface="+mn-ea"/>
              </a:rPr>
              <a:t>efisien</a:t>
            </a:r>
            <a:endParaRPr lang="en-SG" altLang="en-US" dirty="0">
              <a:sym typeface="+mn-ea"/>
            </a:endParaRPr>
          </a:p>
          <a:p>
            <a:r>
              <a:rPr lang="en-SG" altLang="en-US" dirty="0">
                <a:sym typeface="+mn-ea"/>
              </a:rPr>
              <a:t>5.Kebersihan yang </a:t>
            </a:r>
            <a:r>
              <a:rPr lang="en-SG" altLang="en-US" dirty="0" err="1">
                <a:sym typeface="+mn-ea"/>
              </a:rPr>
              <a:t>kurang</a:t>
            </a:r>
            <a:r>
              <a:rPr lang="en-SG" altLang="en-US" dirty="0">
                <a:sym typeface="+mn-ea"/>
              </a:rPr>
              <a:t>, </a:t>
            </a:r>
            <a:r>
              <a:rPr lang="en-SG" altLang="en-US" dirty="0" err="1">
                <a:sym typeface="+mn-ea"/>
              </a:rPr>
              <a:t>terutama</a:t>
            </a:r>
            <a:r>
              <a:rPr lang="en-SG" altLang="en-US" dirty="0">
                <a:sym typeface="+mn-ea"/>
              </a:rPr>
              <a:t> di km/</a:t>
            </a:r>
            <a:r>
              <a:rPr lang="en-SG" altLang="en-US" dirty="0" err="1">
                <a:sym typeface="+mn-ea"/>
              </a:rPr>
              <a:t>wc</a:t>
            </a:r>
            <a:r>
              <a:rPr lang="en-SG" altLang="en-US" dirty="0">
                <a:sym typeface="+mn-ea"/>
              </a:rPr>
              <a:t> </a:t>
            </a:r>
            <a:r>
              <a:rPr lang="en-SG" altLang="en-US" dirty="0" err="1">
                <a:sym typeface="+mn-ea"/>
              </a:rPr>
              <a:t>umum</a:t>
            </a:r>
            <a:endParaRPr lang="en-SG" altLang="en-US" dirty="0">
              <a:solidFill>
                <a:schemeClr val="tx1"/>
              </a:solidFill>
            </a:endParaRPr>
          </a:p>
          <a:p>
            <a:r>
              <a:rPr lang="en-SG" altLang="en-US" dirty="0">
                <a:sym typeface="+mn-ea"/>
              </a:rPr>
              <a:t>6. Data </a:t>
            </a:r>
            <a:r>
              <a:rPr lang="en-SG" altLang="en-US" dirty="0" err="1">
                <a:sym typeface="+mn-ea"/>
              </a:rPr>
              <a:t>berupa</a:t>
            </a:r>
            <a:r>
              <a:rPr lang="en-SG" altLang="en-US" dirty="0">
                <a:sym typeface="+mn-ea"/>
              </a:rPr>
              <a:t> </a:t>
            </a:r>
            <a:r>
              <a:rPr lang="en-SG" altLang="en-US" dirty="0" err="1">
                <a:sym typeface="+mn-ea"/>
              </a:rPr>
              <a:t>dokumen</a:t>
            </a:r>
            <a:r>
              <a:rPr lang="en-SG" altLang="en-US" dirty="0">
                <a:sym typeface="+mn-ea"/>
              </a:rPr>
              <a:t> </a:t>
            </a:r>
            <a:r>
              <a:rPr lang="en-SG" altLang="en-US" dirty="0" err="1">
                <a:sym typeface="+mn-ea"/>
              </a:rPr>
              <a:t>berupa</a:t>
            </a:r>
            <a:r>
              <a:rPr lang="en-SG" altLang="en-US" dirty="0">
                <a:sym typeface="+mn-ea"/>
              </a:rPr>
              <a:t> </a:t>
            </a:r>
            <a:r>
              <a:rPr lang="en-SG" altLang="en-US" dirty="0" err="1">
                <a:sym typeface="+mn-ea"/>
              </a:rPr>
              <a:t>jalur</a:t>
            </a:r>
            <a:r>
              <a:rPr lang="en-SG" altLang="en-US" dirty="0">
                <a:sym typeface="+mn-ea"/>
              </a:rPr>
              <a:t> </a:t>
            </a:r>
            <a:r>
              <a:rPr lang="en-SG" altLang="en-US" dirty="0" err="1">
                <a:sym typeface="+mn-ea"/>
              </a:rPr>
              <a:t>gempa</a:t>
            </a:r>
            <a:r>
              <a:rPr lang="en-SG" altLang="en-US" dirty="0">
                <a:sym typeface="+mn-ea"/>
              </a:rPr>
              <a:t> , </a:t>
            </a:r>
            <a:r>
              <a:rPr lang="en-SG" altLang="en-US" dirty="0" err="1">
                <a:sym typeface="+mn-ea"/>
              </a:rPr>
              <a:t>gambar</a:t>
            </a:r>
            <a:r>
              <a:rPr lang="en-SG" altLang="en-US" dirty="0">
                <a:sym typeface="+mn-ea"/>
              </a:rPr>
              <a:t> </a:t>
            </a:r>
            <a:r>
              <a:rPr lang="en-SG" altLang="en-US" dirty="0" err="1">
                <a:sym typeface="+mn-ea"/>
              </a:rPr>
              <a:t>gedung</a:t>
            </a:r>
            <a:r>
              <a:rPr lang="en-SG" altLang="en-US" dirty="0">
                <a:sym typeface="+mn-ea"/>
              </a:rPr>
              <a:t>, </a:t>
            </a:r>
            <a:r>
              <a:rPr lang="en-SG" altLang="en-US" dirty="0" err="1">
                <a:sym typeface="+mn-ea"/>
              </a:rPr>
              <a:t>sistem</a:t>
            </a:r>
            <a:r>
              <a:rPr lang="en-SG" altLang="en-US" dirty="0">
                <a:sym typeface="+mn-ea"/>
              </a:rPr>
              <a:t> dan </a:t>
            </a:r>
            <a:r>
              <a:rPr lang="en-SG" altLang="en-US" dirty="0" err="1">
                <a:sym typeface="+mn-ea"/>
              </a:rPr>
              <a:t>lingkungan</a:t>
            </a:r>
            <a:r>
              <a:rPr lang="en-SG" altLang="en-US" dirty="0">
                <a:sym typeface="+mn-ea"/>
              </a:rPr>
              <a:t> </a:t>
            </a:r>
            <a:r>
              <a:rPr lang="en-SG" altLang="en-US" dirty="0" err="1">
                <a:sym typeface="+mn-ea"/>
              </a:rPr>
              <a:t>nya</a:t>
            </a:r>
            <a:r>
              <a:rPr lang="en-SG" altLang="en-US" dirty="0">
                <a:sym typeface="+mn-ea"/>
              </a:rPr>
              <a:t>, data </a:t>
            </a:r>
            <a:r>
              <a:rPr lang="en-SG" altLang="en-US" dirty="0" err="1">
                <a:sym typeface="+mn-ea"/>
              </a:rPr>
              <a:t>ketersediaan</a:t>
            </a:r>
            <a:r>
              <a:rPr lang="en-SG" altLang="en-US" dirty="0">
                <a:sym typeface="+mn-ea"/>
              </a:rPr>
              <a:t> </a:t>
            </a:r>
            <a:r>
              <a:rPr lang="en-SG" altLang="en-US" dirty="0" err="1">
                <a:sym typeface="+mn-ea"/>
              </a:rPr>
              <a:t>lahan</a:t>
            </a:r>
            <a:r>
              <a:rPr lang="en-SG" altLang="en-US" dirty="0">
                <a:sym typeface="+mn-ea"/>
              </a:rPr>
              <a:t> </a:t>
            </a:r>
            <a:r>
              <a:rPr lang="en-SG" altLang="en-US" dirty="0" err="1">
                <a:sym typeface="+mn-ea"/>
              </a:rPr>
              <a:t>untuk</a:t>
            </a:r>
            <a:r>
              <a:rPr lang="en-SG" altLang="en-US" dirty="0">
                <a:sym typeface="+mn-ea"/>
              </a:rPr>
              <a:t> </a:t>
            </a:r>
            <a:r>
              <a:rPr lang="en-SG" altLang="en-US" dirty="0" err="1">
                <a:sym typeface="+mn-ea"/>
              </a:rPr>
              <a:t>pengembangan</a:t>
            </a:r>
            <a:r>
              <a:rPr lang="en-SG" altLang="en-US" dirty="0">
                <a:sym typeface="+mn-ea"/>
              </a:rPr>
              <a:t> , </a:t>
            </a:r>
            <a:r>
              <a:rPr lang="en-SG" altLang="en-US" dirty="0" err="1">
                <a:sym typeface="+mn-ea"/>
              </a:rPr>
              <a:t>sumber</a:t>
            </a:r>
            <a:r>
              <a:rPr lang="en-SG" altLang="en-US" dirty="0">
                <a:sym typeface="+mn-ea"/>
              </a:rPr>
              <a:t> air ,</a:t>
            </a:r>
            <a:r>
              <a:rPr lang="en-SG" altLang="en-US" dirty="0" err="1">
                <a:sym typeface="+mn-ea"/>
              </a:rPr>
              <a:t>jaringan</a:t>
            </a:r>
            <a:r>
              <a:rPr lang="en-SG" altLang="en-US" dirty="0">
                <a:sym typeface="+mn-ea"/>
              </a:rPr>
              <a:t> </a:t>
            </a:r>
            <a:r>
              <a:rPr lang="en-SG" altLang="en-US" dirty="0" err="1">
                <a:sym typeface="+mn-ea"/>
              </a:rPr>
              <a:t>listrik</a:t>
            </a:r>
            <a:r>
              <a:rPr lang="en-SG" altLang="en-US" dirty="0">
                <a:sym typeface="+mn-ea"/>
              </a:rPr>
              <a:t>, plumbing ,</a:t>
            </a:r>
            <a:r>
              <a:rPr lang="en-SG" altLang="en-US" dirty="0" err="1">
                <a:sym typeface="+mn-ea"/>
              </a:rPr>
              <a:t>drainase,sistem</a:t>
            </a:r>
            <a:r>
              <a:rPr lang="en-SG" altLang="en-US" dirty="0">
                <a:sym typeface="+mn-ea"/>
              </a:rPr>
              <a:t> </a:t>
            </a:r>
            <a:r>
              <a:rPr lang="en-SG" altLang="en-US" dirty="0" err="1">
                <a:sym typeface="+mn-ea"/>
              </a:rPr>
              <a:t>pembuangan</a:t>
            </a:r>
            <a:r>
              <a:rPr lang="en-SG" altLang="en-US" dirty="0">
                <a:sym typeface="+mn-ea"/>
              </a:rPr>
              <a:t> </a:t>
            </a:r>
            <a:r>
              <a:rPr lang="en-SG" altLang="en-US" dirty="0" err="1">
                <a:sym typeface="+mn-ea"/>
              </a:rPr>
              <a:t>limbah</a:t>
            </a:r>
            <a:r>
              <a:rPr lang="en-SG" altLang="en-US" dirty="0">
                <a:sym typeface="+mn-ea"/>
              </a:rPr>
              <a:t> &amp; </a:t>
            </a:r>
            <a:r>
              <a:rPr lang="en-SG" altLang="en-US" dirty="0" err="1">
                <a:sym typeface="+mn-ea"/>
              </a:rPr>
              <a:t>sampah</a:t>
            </a:r>
            <a:r>
              <a:rPr lang="en-SG" altLang="en-US" dirty="0">
                <a:sym typeface="+mn-ea"/>
              </a:rPr>
              <a:t> </a:t>
            </a:r>
            <a:r>
              <a:rPr lang="en-SG" altLang="en-US" dirty="0" err="1">
                <a:sym typeface="+mn-ea"/>
              </a:rPr>
              <a:t>yg</a:t>
            </a:r>
            <a:r>
              <a:rPr lang="en-SG" altLang="en-US" dirty="0">
                <a:sym typeface="+mn-ea"/>
              </a:rPr>
              <a:t> </a:t>
            </a:r>
            <a:r>
              <a:rPr lang="en-SG" altLang="en-US" dirty="0" err="1">
                <a:sym typeface="+mn-ea"/>
              </a:rPr>
              <a:t>kurang</a:t>
            </a:r>
            <a:r>
              <a:rPr lang="en-SG" altLang="en-US" dirty="0">
                <a:sym typeface="+mn-ea"/>
              </a:rPr>
              <a:t> </a:t>
            </a:r>
            <a:r>
              <a:rPr lang="en-SG" altLang="en-US" dirty="0" err="1">
                <a:sym typeface="+mn-ea"/>
              </a:rPr>
              <a:t>lengkap</a:t>
            </a:r>
            <a:r>
              <a:rPr lang="en-SG" altLang="en-US" dirty="0">
                <a:sym typeface="+mn-ea"/>
              </a:rPr>
              <a:t>/</a:t>
            </a:r>
            <a:r>
              <a:rPr lang="en-SG" altLang="en-US" dirty="0" err="1">
                <a:sym typeface="+mn-ea"/>
              </a:rPr>
              <a:t>memadai</a:t>
            </a:r>
            <a:endParaRPr lang="en-SG" altLang="en-US" dirty="0">
              <a:solidFill>
                <a:schemeClr val="tx1"/>
              </a:solidFill>
              <a:sym typeface="+mn-ea"/>
            </a:endParaRPr>
          </a:p>
          <a:p>
            <a:r>
              <a:rPr lang="en-SG" altLang="en-US" dirty="0">
                <a:sym typeface="+mn-ea"/>
              </a:rPr>
              <a:t>7.Desain &amp; </a:t>
            </a:r>
            <a:r>
              <a:rPr lang="en-SG" altLang="en-US" dirty="0" err="1">
                <a:sym typeface="+mn-ea"/>
              </a:rPr>
              <a:t>pemakaian</a:t>
            </a:r>
            <a:r>
              <a:rPr lang="en-SG" altLang="en-US" dirty="0">
                <a:sym typeface="+mn-ea"/>
              </a:rPr>
              <a:t> </a:t>
            </a:r>
            <a:r>
              <a:rPr lang="en-SG" altLang="en-US" dirty="0" err="1">
                <a:sym typeface="+mn-ea"/>
              </a:rPr>
              <a:t>matrial</a:t>
            </a:r>
            <a:r>
              <a:rPr lang="en-SG" altLang="en-US" dirty="0">
                <a:sym typeface="+mn-ea"/>
              </a:rPr>
              <a:t> </a:t>
            </a:r>
            <a:r>
              <a:rPr lang="en-SG" altLang="en-US" dirty="0" err="1">
                <a:sym typeface="+mn-ea"/>
              </a:rPr>
              <a:t>gedung</a:t>
            </a:r>
            <a:r>
              <a:rPr lang="en-SG" altLang="en-US" dirty="0">
                <a:sym typeface="+mn-ea"/>
              </a:rPr>
              <a:t> yang </a:t>
            </a:r>
            <a:r>
              <a:rPr lang="en-SG" altLang="en-US" dirty="0" err="1">
                <a:sym typeface="+mn-ea"/>
              </a:rPr>
              <a:t>kurang</a:t>
            </a:r>
            <a:r>
              <a:rPr lang="en-SG" altLang="en-US" dirty="0">
                <a:sym typeface="+mn-ea"/>
              </a:rPr>
              <a:t> </a:t>
            </a:r>
            <a:r>
              <a:rPr lang="en-SG" altLang="en-US" dirty="0" err="1">
                <a:sym typeface="+mn-ea"/>
              </a:rPr>
              <a:t>bijaksana</a:t>
            </a:r>
            <a:r>
              <a:rPr lang="en-SG" altLang="en-US" dirty="0">
                <a:sym typeface="+mn-ea"/>
              </a:rPr>
              <a:t> </a:t>
            </a:r>
            <a:r>
              <a:rPr lang="en-SG" altLang="en-US" dirty="0" err="1">
                <a:sym typeface="+mn-ea"/>
              </a:rPr>
              <a:t>memakai</a:t>
            </a:r>
            <a:r>
              <a:rPr lang="en-SG" altLang="en-US" dirty="0">
                <a:sym typeface="+mn-ea"/>
              </a:rPr>
              <a:t> </a:t>
            </a:r>
            <a:r>
              <a:rPr lang="en-SG" altLang="en-US" dirty="0" err="1">
                <a:sym typeface="+mn-ea"/>
              </a:rPr>
              <a:t>cara</a:t>
            </a:r>
            <a:r>
              <a:rPr lang="en-SG" altLang="en-US" dirty="0">
                <a:sym typeface="+mn-ea"/>
              </a:rPr>
              <a:t> dan </a:t>
            </a:r>
            <a:r>
              <a:rPr lang="en-SG" altLang="en-US" dirty="0" err="1">
                <a:sym typeface="+mn-ea"/>
              </a:rPr>
              <a:t>teknologi</a:t>
            </a:r>
            <a:r>
              <a:rPr lang="en-SG" altLang="en-US" dirty="0">
                <a:sym typeface="+mn-ea"/>
              </a:rPr>
              <a:t> lama </a:t>
            </a:r>
            <a:r>
              <a:rPr lang="en-SG" altLang="en-US" dirty="0" err="1">
                <a:sym typeface="+mn-ea"/>
              </a:rPr>
              <a:t>sehingga</a:t>
            </a:r>
            <a:r>
              <a:rPr lang="en-SG" altLang="en-US" dirty="0">
                <a:sym typeface="+mn-ea"/>
              </a:rPr>
              <a:t> </a:t>
            </a:r>
            <a:r>
              <a:rPr lang="en-SG" altLang="en-US" dirty="0" err="1">
                <a:sym typeface="+mn-ea"/>
              </a:rPr>
              <a:t>boros</a:t>
            </a:r>
            <a:r>
              <a:rPr lang="en-SG" altLang="en-US" dirty="0">
                <a:sym typeface="+mn-ea"/>
              </a:rPr>
              <a:t> </a:t>
            </a:r>
            <a:r>
              <a:rPr lang="en-SG" altLang="en-US" dirty="0" err="1">
                <a:sym typeface="+mn-ea"/>
              </a:rPr>
              <a:t>dalam</a:t>
            </a:r>
            <a:r>
              <a:rPr lang="en-SG" altLang="en-US" dirty="0">
                <a:sym typeface="+mn-ea"/>
              </a:rPr>
              <a:t> </a:t>
            </a:r>
            <a:r>
              <a:rPr lang="en-SG" altLang="en-US" dirty="0" err="1">
                <a:sym typeface="+mn-ea"/>
              </a:rPr>
              <a:t>penggunaan</a:t>
            </a:r>
            <a:r>
              <a:rPr lang="en-SG" altLang="en-US" dirty="0">
                <a:sym typeface="+mn-ea"/>
              </a:rPr>
              <a:t> </a:t>
            </a:r>
            <a:r>
              <a:rPr lang="en-SG" altLang="en-US" dirty="0" err="1">
                <a:sym typeface="+mn-ea"/>
              </a:rPr>
              <a:t>energi</a:t>
            </a:r>
            <a:r>
              <a:rPr lang="en-SG" altLang="en-US" dirty="0">
                <a:sym typeface="+mn-ea"/>
              </a:rPr>
              <a:t>.</a:t>
            </a:r>
          </a:p>
          <a:p>
            <a:r>
              <a:rPr lang="en-SG" altLang="en-US" dirty="0">
                <a:sym typeface="+mn-ea"/>
              </a:rPr>
              <a:t>8.Penggunaan </a:t>
            </a:r>
            <a:r>
              <a:rPr lang="en-SG" altLang="en-US" dirty="0" err="1">
                <a:sym typeface="+mn-ea"/>
              </a:rPr>
              <a:t>ruang</a:t>
            </a:r>
            <a:r>
              <a:rPr lang="en-SG" altLang="en-US" dirty="0">
                <a:sym typeface="+mn-ea"/>
              </a:rPr>
              <a:t> </a:t>
            </a:r>
            <a:r>
              <a:rPr lang="en-SG" altLang="en-US" dirty="0" err="1">
                <a:sym typeface="+mn-ea"/>
              </a:rPr>
              <a:t>parkir</a:t>
            </a:r>
            <a:r>
              <a:rPr lang="en-SG" altLang="en-US" dirty="0">
                <a:sym typeface="+mn-ea"/>
              </a:rPr>
              <a:t> </a:t>
            </a:r>
            <a:r>
              <a:rPr lang="en-SG" altLang="en-US" dirty="0" err="1">
                <a:sym typeface="+mn-ea"/>
              </a:rPr>
              <a:t>yg</a:t>
            </a:r>
            <a:r>
              <a:rPr lang="en-SG" altLang="en-US" dirty="0">
                <a:sym typeface="+mn-ea"/>
              </a:rPr>
              <a:t> </a:t>
            </a:r>
            <a:r>
              <a:rPr lang="en-SG" altLang="en-US" dirty="0" err="1">
                <a:sym typeface="+mn-ea"/>
              </a:rPr>
              <a:t>kurang</a:t>
            </a:r>
            <a:r>
              <a:rPr lang="en-SG" altLang="en-US" dirty="0">
                <a:sym typeface="+mn-ea"/>
              </a:rPr>
              <a:t> up to date</a:t>
            </a:r>
            <a:endParaRPr lang="en-SG" altLang="en-US" dirty="0">
              <a:solidFill>
                <a:schemeClr val="tx1"/>
              </a:solidFill>
              <a:sym typeface="+mn-ea"/>
            </a:endParaRP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632123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3352C-CAB4-48A1-8EF1-BBA6A2F18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altLang="en-US" sz="2400" b="1" dirty="0" err="1">
                <a:solidFill>
                  <a:schemeClr val="tx1"/>
                </a:solidFill>
              </a:rPr>
              <a:t>Landasan</a:t>
            </a:r>
            <a:r>
              <a:rPr lang="en-SG" altLang="en-US" sz="2400" b="1" dirty="0">
                <a:solidFill>
                  <a:schemeClr val="tx1"/>
                </a:solidFill>
              </a:rPr>
              <a:t> </a:t>
            </a:r>
            <a:r>
              <a:rPr lang="en-SG" altLang="en-US" sz="2400" b="1" dirty="0" err="1">
                <a:solidFill>
                  <a:schemeClr val="tx1"/>
                </a:solidFill>
              </a:rPr>
              <a:t>hukum</a:t>
            </a:r>
            <a:r>
              <a:rPr lang="en-SG" altLang="en-US" sz="2400" b="1" dirty="0">
                <a:solidFill>
                  <a:schemeClr val="tx1"/>
                </a:solidFill>
              </a:rPr>
              <a:t> yang </a:t>
            </a:r>
            <a:r>
              <a:rPr lang="en-SG" altLang="en-US" sz="2400" b="1" dirty="0" err="1">
                <a:solidFill>
                  <a:schemeClr val="tx1"/>
                </a:solidFill>
              </a:rPr>
              <a:t>dapat</a:t>
            </a:r>
            <a:r>
              <a:rPr lang="en-SG" altLang="en-US" sz="2400" b="1" dirty="0">
                <a:solidFill>
                  <a:schemeClr val="tx1"/>
                </a:solidFill>
              </a:rPr>
              <a:t> </a:t>
            </a:r>
            <a:r>
              <a:rPr lang="en-SG" altLang="en-US" sz="2400" b="1" dirty="0" err="1">
                <a:solidFill>
                  <a:schemeClr val="tx1"/>
                </a:solidFill>
              </a:rPr>
              <a:t>dijadikan</a:t>
            </a:r>
            <a:r>
              <a:rPr lang="en-SG" altLang="en-US" sz="2400" b="1" dirty="0">
                <a:solidFill>
                  <a:schemeClr val="tx1"/>
                </a:solidFill>
              </a:rPr>
              <a:t> </a:t>
            </a:r>
            <a:r>
              <a:rPr lang="en-SG" altLang="en-US" sz="2400" b="1" dirty="0" err="1">
                <a:solidFill>
                  <a:schemeClr val="tx1"/>
                </a:solidFill>
              </a:rPr>
              <a:t>rujukan</a:t>
            </a:r>
            <a:r>
              <a:rPr lang="en-SG" altLang="en-US" sz="2400" b="1" dirty="0">
                <a:solidFill>
                  <a:schemeClr val="tx1"/>
                </a:solidFill>
              </a:rPr>
              <a:t> </a:t>
            </a:r>
            <a:r>
              <a:rPr lang="en-SG" altLang="en-US" sz="2400" b="1" dirty="0" err="1">
                <a:solidFill>
                  <a:schemeClr val="tx1"/>
                </a:solidFill>
              </a:rPr>
              <a:t>untuk</a:t>
            </a:r>
            <a:r>
              <a:rPr lang="en-SG" altLang="en-US" sz="2400" b="1" dirty="0">
                <a:solidFill>
                  <a:schemeClr val="tx1"/>
                </a:solidFill>
              </a:rPr>
              <a:t> </a:t>
            </a:r>
            <a:br>
              <a:rPr lang="en-SG" altLang="en-US" sz="2400" b="1" dirty="0">
                <a:solidFill>
                  <a:schemeClr val="tx1"/>
                </a:solidFill>
              </a:rPr>
            </a:br>
            <a:r>
              <a:rPr lang="en-SG" altLang="en-US" sz="2400" b="1" dirty="0">
                <a:solidFill>
                  <a:schemeClr val="tx1"/>
                </a:solidFill>
              </a:rPr>
              <a:t>“ </a:t>
            </a:r>
            <a:r>
              <a:rPr lang="en-SG" altLang="en-US" sz="2400" b="1" dirty="0" err="1">
                <a:solidFill>
                  <a:schemeClr val="tx1"/>
                </a:solidFill>
              </a:rPr>
              <a:t>Manajer</a:t>
            </a:r>
            <a:r>
              <a:rPr lang="en-SG" altLang="en-US" sz="2400" b="1" dirty="0">
                <a:solidFill>
                  <a:schemeClr val="tx1"/>
                </a:solidFill>
              </a:rPr>
              <a:t> </a:t>
            </a:r>
            <a:r>
              <a:rPr lang="en-SG" altLang="en-US" sz="2400" b="1" dirty="0" err="1">
                <a:solidFill>
                  <a:schemeClr val="tx1"/>
                </a:solidFill>
              </a:rPr>
              <a:t>Pengelolaan</a:t>
            </a:r>
            <a:r>
              <a:rPr lang="en-SG" altLang="en-US" sz="2400" b="1" dirty="0">
                <a:solidFill>
                  <a:schemeClr val="tx1"/>
                </a:solidFill>
              </a:rPr>
              <a:t> </a:t>
            </a:r>
            <a:r>
              <a:rPr lang="en-SG" altLang="en-US" sz="2400" b="1" dirty="0" err="1">
                <a:solidFill>
                  <a:schemeClr val="tx1"/>
                </a:solidFill>
              </a:rPr>
              <a:t>Bangunan</a:t>
            </a:r>
            <a:r>
              <a:rPr lang="en-SG" altLang="en-US" sz="2400" b="1" dirty="0">
                <a:solidFill>
                  <a:schemeClr val="tx1"/>
                </a:solidFill>
              </a:rPr>
              <a:t> Gedung” </a:t>
            </a:r>
            <a:r>
              <a:rPr lang="en-SG" altLang="en-US" sz="2400" b="1" dirty="0" err="1">
                <a:solidFill>
                  <a:schemeClr val="tx1"/>
                </a:solidFill>
              </a:rPr>
              <a:t>adalah</a:t>
            </a:r>
            <a:r>
              <a:rPr lang="en-SG" altLang="en-US" sz="2400" b="1" dirty="0">
                <a:solidFill>
                  <a:schemeClr val="tx1"/>
                </a:solidFill>
              </a:rPr>
              <a:t> </a:t>
            </a:r>
            <a:r>
              <a:rPr lang="en-SG" altLang="en-US" sz="2400" b="1" dirty="0" err="1">
                <a:solidFill>
                  <a:schemeClr val="tx1"/>
                </a:solidFill>
              </a:rPr>
              <a:t>sbb</a:t>
            </a:r>
            <a:r>
              <a:rPr lang="en-SG" altLang="en-US" sz="2400" b="1" u="sng" dirty="0">
                <a:solidFill>
                  <a:schemeClr val="tx1"/>
                </a:solidFill>
              </a:rPr>
              <a:t>:</a:t>
            </a:r>
            <a:br>
              <a:rPr lang="en-SG" altLang="en-US" sz="2400" b="1" u="sng" dirty="0">
                <a:solidFill>
                  <a:schemeClr val="tx1"/>
                </a:solidFill>
              </a:rPr>
            </a:br>
            <a:endParaRPr lang="en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0DB21-B27C-48E2-A94D-280127750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4121"/>
            <a:ext cx="3657600" cy="990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/>
              <a:t>UNDANG-UNDANG REPUBLIK INDONESIA NOMOR 2 TAHUN 2017 TENTANG</a:t>
            </a:r>
          </a:p>
          <a:p>
            <a:pPr marL="0" indent="0">
              <a:buNone/>
            </a:pPr>
            <a:r>
              <a:rPr lang="en-US" sz="1600" dirty="0"/>
              <a:t>JASA KONSTRUKSI</a:t>
            </a:r>
            <a:endParaRPr lang="en-ID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8076E2-5FA8-4D18-B8D0-7EF1A0BEAB46}"/>
              </a:ext>
            </a:extLst>
          </p:cNvPr>
          <p:cNvSpPr txBox="1"/>
          <p:nvPr/>
        </p:nvSpPr>
        <p:spPr>
          <a:xfrm>
            <a:off x="457200" y="2509206"/>
            <a:ext cx="4572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UNDANG-UNDANG </a:t>
            </a:r>
            <a:r>
              <a:rPr lang="en-US" sz="1600" i="1" dirty="0"/>
              <a:t>REPUBLIK INDONESIA</a:t>
            </a:r>
          </a:p>
          <a:p>
            <a:r>
              <a:rPr lang="en-US" sz="1600" dirty="0"/>
              <a:t>NOMOR 13 TAHUN 2003</a:t>
            </a:r>
          </a:p>
          <a:p>
            <a:r>
              <a:rPr lang="en-US" sz="1600" dirty="0"/>
              <a:t>TENTANG</a:t>
            </a:r>
          </a:p>
          <a:p>
            <a:r>
              <a:rPr lang="en-US" sz="1600" dirty="0"/>
              <a:t>KETENAGAKERJAAN</a:t>
            </a:r>
            <a:endParaRPr lang="en-ID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876C01-96E8-4E79-A74F-6E8771D6FC3B}"/>
              </a:ext>
            </a:extLst>
          </p:cNvPr>
          <p:cNvSpPr txBox="1"/>
          <p:nvPr/>
        </p:nvSpPr>
        <p:spPr>
          <a:xfrm>
            <a:off x="490025" y="3698304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altLang="en-US" sz="1600" dirty="0"/>
              <a:t>PERATURAN GUBERNUR  DKI  JAKARTA</a:t>
            </a:r>
          </a:p>
          <a:p>
            <a:r>
              <a:rPr lang="en-US" sz="1600" dirty="0"/>
              <a:t>NOMOR </a:t>
            </a:r>
            <a:r>
              <a:rPr lang="en-SG" altLang="en-US" sz="1600" dirty="0"/>
              <a:t>60</a:t>
            </a:r>
            <a:r>
              <a:rPr lang="en-US" sz="1600" dirty="0"/>
              <a:t> TAHUN 20</a:t>
            </a:r>
            <a:r>
              <a:rPr lang="en-SG" altLang="en-US" sz="1600" dirty="0"/>
              <a:t>22</a:t>
            </a:r>
            <a:r>
              <a:rPr lang="en-US" altLang="en-US" sz="1600" dirty="0"/>
              <a:t> </a:t>
            </a:r>
            <a:r>
              <a:rPr lang="en-SG" altLang="en-US" sz="1600" dirty="0"/>
              <a:t>TENTANG </a:t>
            </a:r>
          </a:p>
          <a:p>
            <a:r>
              <a:rPr lang="en-US" sz="1600" dirty="0"/>
              <a:t>BANGUNAN GEDUNG</a:t>
            </a:r>
            <a:r>
              <a:rPr lang="en-SG" altLang="en-US" sz="1600" dirty="0"/>
              <a:t> HIJAU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166316-E59E-405E-B744-ACF492FB1156}"/>
              </a:ext>
            </a:extLst>
          </p:cNvPr>
          <p:cNvSpPr txBox="1"/>
          <p:nvPr/>
        </p:nvSpPr>
        <p:spPr>
          <a:xfrm>
            <a:off x="457200" y="4641182"/>
            <a:ext cx="3962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altLang="en-US" sz="16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PERGUB NO. 102 TAHUN 2021</a:t>
            </a:r>
          </a:p>
          <a:p>
            <a:r>
              <a:rPr lang="en-SG" altLang="en-US" sz="1600" dirty="0">
                <a:sym typeface="+mn-ea"/>
              </a:rPr>
              <a:t>TENTANG </a:t>
            </a:r>
            <a:r>
              <a:rPr lang="en-SG" altLang="en-US" sz="16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KEWAJIBAN PENGELOLAAN SAMPAH DI KAWASAN DAN PERUSAHAAN</a:t>
            </a:r>
            <a:endParaRPr lang="en-SG" altLang="en-US" sz="1600" dirty="0"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EDBDD6-FD0B-418E-BEAA-B389C6202F08}"/>
              </a:ext>
            </a:extLst>
          </p:cNvPr>
          <p:cNvSpPr txBox="1"/>
          <p:nvPr/>
        </p:nvSpPr>
        <p:spPr>
          <a:xfrm>
            <a:off x="4114800" y="1381662"/>
            <a:ext cx="4572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PERATURAN MENTERI PEKERJAAN UMUM</a:t>
            </a:r>
          </a:p>
          <a:p>
            <a:r>
              <a:rPr lang="en-US" sz="1600" dirty="0"/>
              <a:t>NOMOR : 09/P</a:t>
            </a:r>
            <a:r>
              <a:rPr lang="en-SG" altLang="en-US" sz="1600" dirty="0"/>
              <a:t>E</a:t>
            </a:r>
            <a:r>
              <a:rPr lang="en-US" sz="1600" dirty="0"/>
              <a:t>R/M/2008 TENTANG</a:t>
            </a:r>
          </a:p>
          <a:p>
            <a:r>
              <a:rPr lang="en-US" sz="1600" dirty="0"/>
              <a:t>PEDOMAN SISTEM MANAJEMEN KESELAMATAN </a:t>
            </a:r>
          </a:p>
          <a:p>
            <a:r>
              <a:rPr lang="en-US" sz="1600" dirty="0"/>
              <a:t>DAN KESEHATAN KERJA (K3)</a:t>
            </a:r>
          </a:p>
          <a:p>
            <a:r>
              <a:rPr lang="en-US" sz="1600" dirty="0"/>
              <a:t>KONSTRUKSI BIDANG PEKERJAAN UMUM</a:t>
            </a:r>
            <a:endParaRPr lang="en-ID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AA894A-90CC-4FB7-8C02-41E35BA2E62A}"/>
              </a:ext>
            </a:extLst>
          </p:cNvPr>
          <p:cNvSpPr txBox="1"/>
          <p:nvPr/>
        </p:nvSpPr>
        <p:spPr>
          <a:xfrm>
            <a:off x="4171071" y="2790644"/>
            <a:ext cx="4572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altLang="en-US" sz="1600" dirty="0"/>
              <a:t>KEPUTUSAN MENTERI KETENAGAKERJAAN           </a:t>
            </a:r>
            <a:r>
              <a:rPr lang="en-US" sz="1600" dirty="0">
                <a:sym typeface="+mn-ea"/>
              </a:rPr>
              <a:t>NOMOR 115 TAHUN 2015</a:t>
            </a:r>
            <a:endParaRPr lang="en-US" sz="1600" dirty="0"/>
          </a:p>
          <a:p>
            <a:r>
              <a:rPr lang="en-SG" altLang="en-US" sz="1600" dirty="0"/>
              <a:t>TENTANG</a:t>
            </a:r>
          </a:p>
          <a:p>
            <a:r>
              <a:rPr lang="en-US" sz="1600" dirty="0"/>
              <a:t>SKKNI JABATAN KERJA </a:t>
            </a:r>
          </a:p>
          <a:p>
            <a:r>
              <a:rPr lang="en-US" sz="1600" dirty="0"/>
              <a:t>MANAJER PENGELOLAAN</a:t>
            </a:r>
            <a:r>
              <a:rPr lang="en-SG" altLang="en-US" sz="1600" dirty="0"/>
              <a:t> </a:t>
            </a:r>
            <a:r>
              <a:rPr lang="en-US" sz="1600" dirty="0"/>
              <a:t>BANGUNAN GEDUNG</a:t>
            </a:r>
          </a:p>
          <a:p>
            <a:endParaRPr lang="en-US" sz="1600" dirty="0">
              <a:sym typeface="+mn-ea"/>
            </a:endParaRPr>
          </a:p>
          <a:p>
            <a:r>
              <a:rPr lang="en-US" sz="1600" dirty="0">
                <a:sym typeface="+mn-ea"/>
              </a:rPr>
              <a:t>KEPUTUSAN DIREKTUR JENDERAL BINA KONSTRUKSI</a:t>
            </a:r>
          </a:p>
          <a:p>
            <a:r>
              <a:rPr lang="en-US" sz="1600" dirty="0">
                <a:sym typeface="+mn-ea"/>
              </a:rPr>
              <a:t>NOMOR </a:t>
            </a:r>
            <a:r>
              <a:rPr lang="en-SG" altLang="en-US" sz="1600" dirty="0">
                <a:sym typeface="+mn-ea"/>
              </a:rPr>
              <a:t>33 </a:t>
            </a:r>
            <a:r>
              <a:rPr lang="en-SG" altLang="en-US" sz="1600" dirty="0" err="1">
                <a:sym typeface="+mn-ea"/>
              </a:rPr>
              <a:t>th</a:t>
            </a:r>
            <a:r>
              <a:rPr lang="en-SG" altLang="en-US" sz="1600" dirty="0">
                <a:sym typeface="+mn-ea"/>
              </a:rPr>
              <a:t> 2</a:t>
            </a:r>
            <a:r>
              <a:rPr lang="en-US" sz="1600" dirty="0">
                <a:sym typeface="+mn-ea"/>
              </a:rPr>
              <a:t>02</a:t>
            </a:r>
            <a:r>
              <a:rPr lang="en-SG" altLang="en-US" sz="1600" dirty="0">
                <a:sym typeface="+mn-ea"/>
              </a:rPr>
              <a:t>3</a:t>
            </a:r>
            <a:endParaRPr lang="en-US" sz="1600" dirty="0">
              <a:sym typeface="+mn-ea"/>
            </a:endParaRPr>
          </a:p>
          <a:p>
            <a:r>
              <a:rPr lang="en-SG" altLang="en-US" sz="1600" dirty="0">
                <a:sym typeface="+mn-ea"/>
              </a:rPr>
              <a:t>TENTANG </a:t>
            </a:r>
            <a:endParaRPr lang="en-US" sz="1600" dirty="0"/>
          </a:p>
          <a:p>
            <a:r>
              <a:rPr lang="en-US" sz="1600" dirty="0">
                <a:sym typeface="+mn-ea"/>
              </a:rPr>
              <a:t>PENETAPAN JABATAN KERJA DAN KONVERSI JABATAN KERJA EKSISTING SERTA JENJANG KUALIFIKASI BIDANG JASA KONSTRUKSI</a:t>
            </a:r>
            <a:r>
              <a:rPr lang="en-SG" altLang="en-US" sz="1600" dirty="0">
                <a:sym typeface="+mn-e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06357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7F734-637B-4E44-809F-EE54939D1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74638"/>
            <a:ext cx="8001000" cy="868362"/>
          </a:xfrm>
        </p:spPr>
        <p:txBody>
          <a:bodyPr>
            <a:normAutofit fontScale="90000"/>
          </a:bodyPr>
          <a:lstStyle/>
          <a:p>
            <a:r>
              <a:rPr lang="en-SG" altLang="en-US" sz="31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UU No 2 </a:t>
            </a:r>
            <a:r>
              <a:rPr lang="en-SG" altLang="en-US" sz="31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Tahun</a:t>
            </a:r>
            <a:r>
              <a:rPr lang="en-SG" altLang="en-US" sz="31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2017 - TENTANG JASA KONSTRUKSI</a:t>
            </a:r>
            <a:br>
              <a:rPr lang="en-SG" altLang="en-US" sz="4400" dirty="0">
                <a:solidFill>
                  <a:srgbClr val="0070C0"/>
                </a:solidFill>
              </a:rPr>
            </a:b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DD126-D3B1-496C-ABCF-0BDC9A9AB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257800"/>
          </a:xfrm>
        </p:spPr>
        <p:txBody>
          <a:bodyPr>
            <a:normAutofit fontScale="70000" lnSpcReduction="20000"/>
          </a:bodyPr>
          <a:lstStyle/>
          <a:p>
            <a:pPr algn="ctr"/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Pasal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70</a:t>
            </a:r>
            <a:endParaRPr lang="en-SG" altLang="en-US" sz="3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SG" altLang="en-US" sz="3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1.Setiap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tenaga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kerja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konstruksi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yang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bekerja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di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bidang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Jasa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Konstruksi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wajib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memiliki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Sertifikat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Kompetensi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Kerja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.</a:t>
            </a:r>
            <a:endParaRPr lang="en-SG" altLang="en-US" sz="3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2.Setiap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Pengguna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Jasa dan/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atau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penyedia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Jasa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wajib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mempekerjakan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tenaga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kerja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konstruksi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yang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memiliki</a:t>
            </a:r>
            <a:endParaRPr lang="en-SG" altLang="en-US" sz="3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Sertifikat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Kompetensi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Kerja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sebagaimana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dimaksud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pada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ayat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(1).</a:t>
            </a:r>
            <a:endParaRPr lang="en-SG" altLang="en-US" sz="3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3.Sertifikat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Kompetensi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Kerja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sebagaimana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dimaksud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pada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ayat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(1)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diperoleh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melalui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uji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kompetensi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sesuai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dengan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Standar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Kompetensi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Kerja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.</a:t>
            </a:r>
            <a:endParaRPr lang="en-SG" altLang="en-US" sz="3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4.Sertifikat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Kompetensi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Kerja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sebagaimana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dimaksud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pada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ayat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(1)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diregistrasi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oleh Menteri.</a:t>
            </a:r>
            <a:endParaRPr lang="en-SG" altLang="en-US" sz="3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5.Pelaksanaan uji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kompetensi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sebagaimana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dimaksud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pada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ayat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(3)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dilakukan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oleh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lembaga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sertifikasi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profesi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.</a:t>
            </a:r>
            <a:endParaRPr lang="en-SG" altLang="en-US" sz="3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6.Lembaga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sertifikasi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profesi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sebagaimana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dimaksud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pada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ayat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(5)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wajib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mengikuti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ketentuan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pelaksanaan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uji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kompetensi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sesuai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dengan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ketentuan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peraturan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SG" altLang="en-US" sz="32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perundang-undangan</a:t>
            </a:r>
            <a:r>
              <a:rPr lang="en-SG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.</a:t>
            </a:r>
            <a:endParaRPr lang="en-SG" altLang="en-US" sz="3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897875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69344-C8EC-4FEF-B2A6-3CAC9110F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 fontScale="90000"/>
          </a:bodyPr>
          <a:lstStyle/>
          <a:p>
            <a:r>
              <a:rPr lang="en-US" sz="2000" b="1" dirty="0">
                <a:sym typeface="+mn-ea"/>
              </a:rPr>
              <a:t>UNDANG-UNDANG </a:t>
            </a:r>
            <a:r>
              <a:rPr lang="en-US" sz="2000" b="1" i="1" dirty="0">
                <a:sym typeface="+mn-ea"/>
              </a:rPr>
              <a:t>REPUBLIK INDONESIA</a:t>
            </a:r>
            <a:r>
              <a:rPr lang="en-SG" altLang="en-US" sz="2000" b="1" i="1" dirty="0">
                <a:sym typeface="+mn-ea"/>
              </a:rPr>
              <a:t> </a:t>
            </a:r>
            <a:r>
              <a:rPr lang="en-US" sz="2000" b="1" dirty="0">
                <a:sym typeface="+mn-ea"/>
              </a:rPr>
              <a:t>NOMOR 13 TAHUN 2003</a:t>
            </a:r>
            <a:br>
              <a:rPr lang="en-US" sz="2000" b="1" dirty="0"/>
            </a:br>
            <a:r>
              <a:rPr lang="en-US" sz="2000" b="1" dirty="0">
                <a:sym typeface="+mn-ea"/>
              </a:rPr>
              <a:t>TENTANG</a:t>
            </a:r>
            <a:r>
              <a:rPr lang="en-SG" altLang="en-US" sz="2000" b="1" dirty="0">
                <a:sym typeface="+mn-ea"/>
              </a:rPr>
              <a:t> </a:t>
            </a:r>
            <a:r>
              <a:rPr lang="en-US" sz="2000" b="1" dirty="0">
                <a:sym typeface="+mn-ea"/>
              </a:rPr>
              <a:t>KETENAGAKERJAAN</a:t>
            </a:r>
            <a:br>
              <a:rPr lang="en-SG" altLang="en-US" sz="2000" b="1" dirty="0">
                <a:solidFill>
                  <a:srgbClr val="0070C0"/>
                </a:solidFill>
              </a:rPr>
            </a:br>
            <a:endParaRPr lang="en-ID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EDA3A-2C9D-49D8-86F7-CEA7F60BB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fontScale="55000" lnSpcReduction="20000"/>
          </a:bodyPr>
          <a:lstStyle/>
          <a:p>
            <a:pPr algn="ctr"/>
            <a:r>
              <a:rPr lang="en-SG" alt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BAB V</a:t>
            </a:r>
          </a:p>
          <a:p>
            <a:pPr algn="ctr"/>
            <a:r>
              <a:rPr lang="en-SG" alt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PELATIHAN KERJA</a:t>
            </a:r>
          </a:p>
          <a:p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Pasal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9</a:t>
            </a:r>
          </a:p>
          <a:p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Pelatihan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kerja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diselenggarakan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dan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diarahkan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untuk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membekali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meningkatkan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dan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mengembangkan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kompetensi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kerja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guna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meningkatkan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kemampuan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produktivitas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dankesejahteraan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</a:p>
          <a:p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Pasal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10</a:t>
            </a:r>
          </a:p>
          <a:p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1.Pelatihan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kerja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dilaksanakan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dengan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memperhatikan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kebutuhan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pasar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kerja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dan dunia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usaha,baik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di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dalam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maupun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di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luar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hubungan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kerja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</a:p>
          <a:p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2.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Pelatihan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kerja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diselenggarakan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berdasarkan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program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pelatihan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yang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mengacu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pada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standar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kompetensi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kerja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</a:p>
          <a:p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3.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Pelatihan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kerja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dapat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dilakukan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secara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berjenjang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</a:p>
          <a:p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4.Ketentuan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mengenai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tata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cara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penetapan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standar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kompetensi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kerja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sebagaimana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dimaksud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dalam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ayat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(2)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diatur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dengan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Keputusan Menteri.</a:t>
            </a:r>
          </a:p>
          <a:p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Pasal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11</a:t>
            </a:r>
          </a:p>
          <a:p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Setiap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tenaga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kerja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berhak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untuk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memperoleh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dan/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atau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meningkatkan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dan/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atau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mengembang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kan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kompetensi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kerja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sesuai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dengan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bakat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minat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dan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kemampuannya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melalui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pelatihan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kerja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</a:p>
          <a:p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Pasal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12,dst........</a:t>
            </a:r>
            <a:endParaRPr lang="en-SG" altLang="en-US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414400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3FC37-CE7B-4AF9-9077-518DF2913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 fontScale="90000"/>
          </a:bodyPr>
          <a:lstStyle/>
          <a:p>
            <a:r>
              <a:rPr lang="en-SG" altLang="en-US" sz="2200" b="1" dirty="0">
                <a:sym typeface="+mn-ea"/>
              </a:rPr>
              <a:t>PERATURAN GUBERNUR  DKI  JAKARTA </a:t>
            </a:r>
            <a:r>
              <a:rPr lang="en-US" sz="2200" b="1" dirty="0">
                <a:sym typeface="+mn-ea"/>
              </a:rPr>
              <a:t>NOMOR </a:t>
            </a:r>
            <a:r>
              <a:rPr lang="en-SG" altLang="en-US" sz="2200" b="1" dirty="0">
                <a:sym typeface="+mn-ea"/>
              </a:rPr>
              <a:t>60</a:t>
            </a:r>
            <a:r>
              <a:rPr lang="en-US" sz="2200" b="1" dirty="0">
                <a:sym typeface="+mn-ea"/>
              </a:rPr>
              <a:t> TAHUN 20</a:t>
            </a:r>
            <a:r>
              <a:rPr lang="en-SG" altLang="en-US" sz="2200" b="1" dirty="0">
                <a:sym typeface="+mn-ea"/>
              </a:rPr>
              <a:t>22 TENTANG </a:t>
            </a:r>
            <a:r>
              <a:rPr lang="en-US" sz="2200" b="1" dirty="0">
                <a:sym typeface="+mn-ea"/>
              </a:rPr>
              <a:t>BANGUNAN GEDUNG</a:t>
            </a:r>
            <a:r>
              <a:rPr lang="en-SG" altLang="en-US" sz="2200" b="1" dirty="0">
                <a:sym typeface="+mn-ea"/>
              </a:rPr>
              <a:t> HIJAU</a:t>
            </a:r>
            <a:br>
              <a:rPr lang="en-SG" altLang="en-US" sz="4400" dirty="0">
                <a:solidFill>
                  <a:srgbClr val="0070C0"/>
                </a:solidFill>
              </a:rPr>
            </a:b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EAE45-F686-4C4C-A8FB-F7861AF2F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81599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3200" dirty="0">
                <a:sym typeface="+mn-ea"/>
              </a:rPr>
              <a:t>BAB II </a:t>
            </a:r>
            <a:endParaRPr lang="en-US" sz="32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3200" dirty="0">
                <a:sym typeface="+mn-ea"/>
              </a:rPr>
              <a:t>BANGUNAN GEDUNG YANG DIKENAI PERSYARATAN </a:t>
            </a:r>
            <a:endParaRPr lang="en-US" sz="32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3200" dirty="0">
                <a:sym typeface="+mn-ea"/>
              </a:rPr>
              <a:t>BANGUNAN GEDUNG HIJAU </a:t>
            </a:r>
            <a:endParaRPr lang="en-US" sz="3200" dirty="0"/>
          </a:p>
          <a:p>
            <a:pPr marL="0" indent="0" algn="ctr">
              <a:lnSpc>
                <a:spcPct val="50000"/>
              </a:lnSpc>
              <a:buNone/>
            </a:pPr>
            <a:endParaRPr lang="en-US" sz="3200" b="1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3200" dirty="0" err="1">
                <a:sym typeface="+mn-ea"/>
              </a:rPr>
              <a:t>Pasal</a:t>
            </a:r>
            <a:r>
              <a:rPr lang="en-US" sz="3200" dirty="0">
                <a:sym typeface="+mn-ea"/>
              </a:rPr>
              <a:t> 2 </a:t>
            </a:r>
            <a:endParaRPr lang="en-US" sz="3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3200" dirty="0">
                <a:sym typeface="+mn-ea"/>
              </a:rPr>
              <a:t>(1) </a:t>
            </a:r>
            <a:r>
              <a:rPr lang="en-US" sz="3200" dirty="0" err="1">
                <a:sym typeface="+mn-ea"/>
              </a:rPr>
              <a:t>Bangunan</a:t>
            </a:r>
            <a:r>
              <a:rPr lang="en-US" sz="3200" dirty="0">
                <a:sym typeface="+mn-ea"/>
              </a:rPr>
              <a:t> Gedung yang </a:t>
            </a:r>
            <a:r>
              <a:rPr lang="en-US" sz="3200" dirty="0" err="1">
                <a:sym typeface="+mn-ea"/>
              </a:rPr>
              <a:t>dikenai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persyaratan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Bangunan</a:t>
            </a:r>
            <a:r>
              <a:rPr lang="en-US" sz="3200" dirty="0">
                <a:sym typeface="+mn-ea"/>
              </a:rPr>
              <a:t> </a:t>
            </a:r>
            <a:endParaRPr lang="en-US" sz="3200" dirty="0"/>
          </a:p>
          <a:p>
            <a:pPr marL="0" indent="0">
              <a:lnSpc>
                <a:spcPct val="80000"/>
              </a:lnSpc>
              <a:buNone/>
            </a:pPr>
            <a:r>
              <a:rPr lang="en-US" sz="3200" dirty="0">
                <a:sym typeface="+mn-ea"/>
              </a:rPr>
              <a:t>Gedung Hijau </a:t>
            </a:r>
            <a:r>
              <a:rPr lang="en-US" sz="3200" dirty="0" err="1">
                <a:sym typeface="+mn-ea"/>
              </a:rPr>
              <a:t>meliputi</a:t>
            </a:r>
            <a:r>
              <a:rPr lang="en-US" sz="3200" dirty="0">
                <a:sym typeface="+mn-ea"/>
              </a:rPr>
              <a:t>: </a:t>
            </a:r>
            <a:endParaRPr lang="en-US" sz="3200" dirty="0"/>
          </a:p>
          <a:p>
            <a:pPr marL="0" indent="0">
              <a:lnSpc>
                <a:spcPct val="80000"/>
              </a:lnSpc>
              <a:buNone/>
            </a:pPr>
            <a:r>
              <a:rPr lang="en-US" sz="3200" dirty="0">
                <a:sym typeface="+mn-ea"/>
              </a:rPr>
              <a:t>a. </a:t>
            </a:r>
            <a:r>
              <a:rPr lang="en-US" sz="3200" dirty="0" err="1">
                <a:sym typeface="+mn-ea"/>
              </a:rPr>
              <a:t>bangunan</a:t>
            </a:r>
            <a:r>
              <a:rPr lang="en-US" sz="3200" dirty="0">
                <a:sym typeface="+mn-ea"/>
              </a:rPr>
              <a:t> Gedung </a:t>
            </a:r>
            <a:r>
              <a:rPr lang="en-US" sz="3200" dirty="0" err="1">
                <a:sym typeface="+mn-ea"/>
              </a:rPr>
              <a:t>Baru</a:t>
            </a:r>
            <a:r>
              <a:rPr lang="en-US" sz="3200" dirty="0">
                <a:sym typeface="+mn-ea"/>
              </a:rPr>
              <a:t>; dan </a:t>
            </a:r>
            <a:endParaRPr lang="en-US" sz="3200" dirty="0"/>
          </a:p>
          <a:p>
            <a:pPr marL="0" indent="0">
              <a:lnSpc>
                <a:spcPct val="80000"/>
              </a:lnSpc>
              <a:buNone/>
            </a:pPr>
            <a:r>
              <a:rPr lang="en-US" sz="3200" dirty="0">
                <a:sym typeface="+mn-ea"/>
              </a:rPr>
              <a:t>b. </a:t>
            </a:r>
            <a:r>
              <a:rPr lang="en-US" sz="3200" dirty="0" err="1">
                <a:sym typeface="+mn-ea"/>
              </a:rPr>
              <a:t>bangunan</a:t>
            </a:r>
            <a:r>
              <a:rPr lang="en-US" sz="3200" dirty="0">
                <a:sym typeface="+mn-ea"/>
              </a:rPr>
              <a:t> Gedung </a:t>
            </a:r>
            <a:r>
              <a:rPr lang="en-US" sz="3200" dirty="0" err="1">
                <a:sym typeface="+mn-ea"/>
              </a:rPr>
              <a:t>Eksisting</a:t>
            </a:r>
            <a:r>
              <a:rPr lang="en-US" sz="3200" dirty="0">
                <a:sym typeface="+mn-ea"/>
              </a:rPr>
              <a:t>. </a:t>
            </a:r>
            <a:endParaRPr lang="en-US" sz="3200" dirty="0"/>
          </a:p>
          <a:p>
            <a:pPr marL="0" indent="0">
              <a:lnSpc>
                <a:spcPct val="80000"/>
              </a:lnSpc>
              <a:buNone/>
            </a:pPr>
            <a:r>
              <a:rPr lang="en-US" sz="3200" dirty="0">
                <a:sym typeface="+mn-ea"/>
              </a:rPr>
              <a:t>(2) </a:t>
            </a:r>
            <a:r>
              <a:rPr lang="en-US" sz="3200" dirty="0" err="1">
                <a:sym typeface="+mn-ea"/>
              </a:rPr>
              <a:t>Bangunan</a:t>
            </a:r>
            <a:r>
              <a:rPr lang="en-US" sz="3200" dirty="0">
                <a:sym typeface="+mn-ea"/>
              </a:rPr>
              <a:t> Gedung </a:t>
            </a:r>
            <a:r>
              <a:rPr lang="en-US" sz="3200" dirty="0" err="1">
                <a:sym typeface="+mn-ea"/>
              </a:rPr>
              <a:t>sebagaimana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dimaksud</a:t>
            </a:r>
            <a:r>
              <a:rPr lang="en-US" sz="3200" dirty="0">
                <a:sym typeface="+mn-ea"/>
              </a:rPr>
              <a:t> pada </a:t>
            </a:r>
            <a:r>
              <a:rPr lang="en-US" sz="3200" dirty="0" err="1">
                <a:sym typeface="+mn-ea"/>
              </a:rPr>
              <a:t>ayat</a:t>
            </a:r>
            <a:r>
              <a:rPr lang="en-US" sz="3200" dirty="0">
                <a:sym typeface="+mn-ea"/>
              </a:rPr>
              <a:t> (1) </a:t>
            </a:r>
            <a:endParaRPr lang="en-US" sz="3200" dirty="0"/>
          </a:p>
          <a:p>
            <a:pPr marL="0" indent="0">
              <a:lnSpc>
                <a:spcPct val="80000"/>
              </a:lnSpc>
              <a:buNone/>
            </a:pPr>
            <a:r>
              <a:rPr lang="en-US" sz="3200" dirty="0" err="1">
                <a:sym typeface="+mn-ea"/>
              </a:rPr>
              <a:t>meliputi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klasifikasi</a:t>
            </a:r>
            <a:r>
              <a:rPr lang="en-US" sz="3200" dirty="0">
                <a:sym typeface="+mn-ea"/>
              </a:rPr>
              <a:t>: </a:t>
            </a:r>
            <a:endParaRPr lang="en-US" sz="3200" dirty="0"/>
          </a:p>
          <a:p>
            <a:pPr marL="0" indent="0">
              <a:lnSpc>
                <a:spcPct val="80000"/>
              </a:lnSpc>
              <a:buNone/>
            </a:pPr>
            <a:r>
              <a:rPr lang="en-US" sz="3200" dirty="0">
                <a:sym typeface="+mn-ea"/>
              </a:rPr>
              <a:t>a. </a:t>
            </a:r>
            <a:r>
              <a:rPr lang="en-US" sz="3200" dirty="0" err="1">
                <a:sym typeface="+mn-ea"/>
              </a:rPr>
              <a:t>bangunan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skala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besar</a:t>
            </a:r>
            <a:r>
              <a:rPr lang="en-US" sz="3200" dirty="0">
                <a:sym typeface="+mn-ea"/>
              </a:rPr>
              <a:t>; </a:t>
            </a:r>
            <a:endParaRPr lang="en-US" sz="3200" dirty="0"/>
          </a:p>
          <a:p>
            <a:pPr marL="0" indent="0">
              <a:lnSpc>
                <a:spcPct val="80000"/>
              </a:lnSpc>
              <a:buNone/>
            </a:pPr>
            <a:r>
              <a:rPr lang="en-US" sz="3200" dirty="0">
                <a:sym typeface="+mn-ea"/>
              </a:rPr>
              <a:t>b. </a:t>
            </a:r>
            <a:r>
              <a:rPr lang="en-US" sz="3200" dirty="0" err="1">
                <a:sym typeface="+mn-ea"/>
              </a:rPr>
              <a:t>bangunan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skala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sedang</a:t>
            </a:r>
            <a:r>
              <a:rPr lang="en-US" sz="3200" dirty="0">
                <a:sym typeface="+mn-ea"/>
              </a:rPr>
              <a:t>; dan </a:t>
            </a:r>
            <a:endParaRPr lang="en-US" sz="3200" dirty="0"/>
          </a:p>
          <a:p>
            <a:pPr marL="0" indent="0">
              <a:lnSpc>
                <a:spcPct val="80000"/>
              </a:lnSpc>
              <a:buNone/>
            </a:pPr>
            <a:r>
              <a:rPr lang="en-US" sz="3200" dirty="0">
                <a:sym typeface="+mn-ea"/>
              </a:rPr>
              <a:t>c. </a:t>
            </a:r>
            <a:r>
              <a:rPr lang="en-US" sz="3200" dirty="0" err="1">
                <a:sym typeface="+mn-ea"/>
              </a:rPr>
              <a:t>bangunan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skala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kecil</a:t>
            </a:r>
            <a:r>
              <a:rPr lang="en-US" sz="3200" dirty="0">
                <a:sym typeface="+mn-ea"/>
              </a:rPr>
              <a:t>.</a:t>
            </a:r>
            <a:endParaRPr lang="en-US" sz="3200" dirty="0"/>
          </a:p>
          <a:p>
            <a:pPr marL="0" indent="0">
              <a:lnSpc>
                <a:spcPct val="80000"/>
              </a:lnSpc>
              <a:buNone/>
            </a:pPr>
            <a:r>
              <a:rPr lang="en-US" sz="3200" dirty="0">
                <a:sym typeface="+mn-ea"/>
              </a:rPr>
              <a:t>(3) </a:t>
            </a:r>
            <a:r>
              <a:rPr lang="en-US" sz="3200" dirty="0" err="1">
                <a:sym typeface="+mn-ea"/>
              </a:rPr>
              <a:t>Klasiflkasi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Bangunan</a:t>
            </a:r>
            <a:r>
              <a:rPr lang="en-US" sz="3200" dirty="0">
                <a:sym typeface="+mn-ea"/>
              </a:rPr>
              <a:t> Gedung </a:t>
            </a:r>
            <a:r>
              <a:rPr lang="en-US" sz="3200" dirty="0" err="1">
                <a:sym typeface="+mn-ea"/>
              </a:rPr>
              <a:t>sebagaimana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dimaksud</a:t>
            </a:r>
            <a:r>
              <a:rPr lang="en-US" sz="3200" dirty="0">
                <a:sym typeface="+mn-ea"/>
              </a:rPr>
              <a:t> pada </a:t>
            </a:r>
            <a:r>
              <a:rPr lang="en-US" sz="3200" dirty="0" err="1">
                <a:sym typeface="+mn-ea"/>
              </a:rPr>
              <a:t>ayat</a:t>
            </a:r>
            <a:r>
              <a:rPr lang="en-US" sz="3200" dirty="0">
                <a:sym typeface="+mn-ea"/>
              </a:rPr>
              <a:t> (2) </a:t>
            </a:r>
            <a:r>
              <a:rPr lang="en-US" sz="3200" dirty="0" err="1">
                <a:sym typeface="+mn-ea"/>
              </a:rPr>
              <a:t>ditentukan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berdasarkan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luas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Bangunan</a:t>
            </a:r>
            <a:r>
              <a:rPr lang="en-US" sz="3200" dirty="0">
                <a:sym typeface="+mn-ea"/>
              </a:rPr>
              <a:t> Gedung yang </a:t>
            </a:r>
            <a:r>
              <a:rPr lang="en-US" sz="3200" dirty="0" err="1">
                <a:sym typeface="+mn-ea"/>
              </a:rPr>
              <a:t>dinyatakan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dalam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Pengesahan</a:t>
            </a:r>
            <a:r>
              <a:rPr lang="en-US" sz="3200" dirty="0">
                <a:sym typeface="+mn-ea"/>
              </a:rPr>
              <a:t> GPA. </a:t>
            </a:r>
            <a:endParaRPr lang="en-US" sz="3200" dirty="0"/>
          </a:p>
          <a:p>
            <a:pPr marL="0" indent="0">
              <a:lnSpc>
                <a:spcPct val="80000"/>
              </a:lnSpc>
              <a:buNone/>
            </a:pPr>
            <a:r>
              <a:rPr lang="en-US" sz="3200" dirty="0">
                <a:sym typeface="+mn-ea"/>
              </a:rPr>
              <a:t>(4) </a:t>
            </a:r>
            <a:r>
              <a:rPr lang="en-US" sz="3200" dirty="0" err="1">
                <a:sym typeface="+mn-ea"/>
              </a:rPr>
              <a:t>Setiap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pemilik</a:t>
            </a:r>
            <a:r>
              <a:rPr lang="en-US" sz="3200" dirty="0">
                <a:sym typeface="+mn-ea"/>
              </a:rPr>
              <a:t>/</a:t>
            </a:r>
            <a:r>
              <a:rPr lang="en-US" sz="3200" dirty="0" err="1">
                <a:sym typeface="+mn-ea"/>
              </a:rPr>
              <a:t>pengelola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Bangunan</a:t>
            </a:r>
            <a:r>
              <a:rPr lang="en-US" sz="3200" dirty="0">
                <a:sym typeface="+mn-ea"/>
              </a:rPr>
              <a:t> Gedung </a:t>
            </a:r>
            <a:r>
              <a:rPr lang="en-US" sz="3200" dirty="0" err="1">
                <a:sym typeface="+mn-ea"/>
              </a:rPr>
              <a:t>Eksisting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sebagaimana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dimaksud</a:t>
            </a:r>
            <a:r>
              <a:rPr lang="en-US" sz="3200" dirty="0">
                <a:sym typeface="+mn-ea"/>
              </a:rPr>
              <a:t> pada </a:t>
            </a:r>
            <a:r>
              <a:rPr lang="en-US" sz="3200" dirty="0" err="1">
                <a:sym typeface="+mn-ea"/>
              </a:rPr>
              <a:t>ayat</a:t>
            </a:r>
            <a:r>
              <a:rPr lang="en-US" sz="3200" dirty="0">
                <a:sym typeface="+mn-ea"/>
              </a:rPr>
              <a:t> (1) yang </a:t>
            </a:r>
            <a:r>
              <a:rPr lang="en-US" sz="3200" dirty="0" err="1">
                <a:sym typeface="+mn-ea"/>
              </a:rPr>
              <a:t>tidak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melaksanakan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persyaratan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Bangunan</a:t>
            </a:r>
            <a:r>
              <a:rPr lang="en-US" sz="3200" dirty="0">
                <a:sym typeface="+mn-ea"/>
              </a:rPr>
              <a:t> Gedung Hijau </a:t>
            </a:r>
            <a:r>
              <a:rPr lang="en-US" sz="3200" dirty="0" err="1">
                <a:sym typeface="+mn-ea"/>
              </a:rPr>
              <a:t>dikenakan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sanksi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administratif</a:t>
            </a:r>
            <a:r>
              <a:rPr lang="en-US" sz="3200" dirty="0">
                <a:sym typeface="+mn-ea"/>
              </a:rPr>
              <a:t> </a:t>
            </a:r>
            <a:endParaRPr lang="en-US" sz="3200" dirty="0"/>
          </a:p>
          <a:p>
            <a:pPr marL="0" indent="0">
              <a:lnSpc>
                <a:spcPct val="80000"/>
              </a:lnSpc>
              <a:buNone/>
            </a:pPr>
            <a:r>
              <a:rPr lang="en-US" sz="3200" dirty="0" err="1">
                <a:sym typeface="+mn-ea"/>
              </a:rPr>
              <a:t>berupa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peringatan</a:t>
            </a:r>
            <a:r>
              <a:rPr lang="en-US" sz="3200" dirty="0">
                <a:sym typeface="+mn-ea"/>
              </a:rPr>
              <a:t> </a:t>
            </a:r>
            <a:r>
              <a:rPr lang="en-US" sz="3200" dirty="0" err="1">
                <a:sym typeface="+mn-ea"/>
              </a:rPr>
              <a:t>tertulis</a:t>
            </a:r>
            <a:endParaRPr lang="en-SG" altLang="en-US" sz="3200" dirty="0">
              <a:solidFill>
                <a:srgbClr val="0070C0"/>
              </a:solidFill>
            </a:endParaRP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776423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0D01B-FF70-4E2E-97B4-BCB2F8AC7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 fontScale="90000"/>
          </a:bodyPr>
          <a:lstStyle/>
          <a:p>
            <a:r>
              <a:rPr lang="en-SG" altLang="en-US" sz="2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PERGUB NO. 102 TAHUN 2021-KEWAJIBAN PENGELOLAAN SAMPAH DI KAWASAN DAN PERUSAHAAN</a:t>
            </a:r>
            <a:br>
              <a:rPr lang="en-SG" altLang="en-US" sz="4400" dirty="0">
                <a:solidFill>
                  <a:srgbClr val="0070C0"/>
                </a:solidFill>
              </a:rPr>
            </a:b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F47CF-652D-461E-9EDD-0223C0D59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257800"/>
          </a:xfrm>
        </p:spPr>
        <p:txBody>
          <a:bodyPr>
            <a:noAutofit/>
          </a:bodyPr>
          <a:lstStyle/>
          <a:p>
            <a:pPr algn="ctr"/>
            <a:r>
              <a:rPr lang="en-SG" altLang="en-US" sz="20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BAB II </a:t>
            </a:r>
            <a:endParaRPr lang="en-SG" altLang="en-US" sz="20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SG" altLang="en-US" sz="20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KEWAJIBAN PENGELOLAAN SAMPAH </a:t>
            </a:r>
            <a:endParaRPr lang="en-SG" altLang="en-US" sz="20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SG" altLang="en-US" sz="20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Bagian </a:t>
            </a:r>
            <a:r>
              <a:rPr lang="en-SG" altLang="en-US" sz="20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Kesatu</a:t>
            </a:r>
            <a:r>
              <a:rPr lang="en-SG" altLang="en-US" sz="20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endParaRPr lang="en-SG" altLang="en-US" sz="20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SG" altLang="en-US" sz="20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Umum</a:t>
            </a:r>
            <a:r>
              <a:rPr lang="en-SG" altLang="en-US" sz="20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endParaRPr lang="en-SG" altLang="en-US" sz="20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SG" altLang="en-US" sz="20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Pasal</a:t>
            </a:r>
            <a:r>
              <a:rPr lang="en-SG" altLang="en-US" sz="20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2 </a:t>
            </a:r>
            <a:endParaRPr lang="en-SG" altLang="en-US" sz="20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SG" altLang="en-US" sz="20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(1) </a:t>
            </a:r>
            <a:r>
              <a:rPr lang="en-SG" altLang="en-US" sz="20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Setiap</a:t>
            </a:r>
            <a:r>
              <a:rPr lang="en-SG" altLang="en-US" sz="20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SG" altLang="en-US" sz="20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penanggung</a:t>
            </a:r>
            <a:r>
              <a:rPr lang="en-SG" altLang="en-US" sz="20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SG" altLang="en-US" sz="20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jawab</a:t>
            </a:r>
            <a:r>
              <a:rPr lang="en-SG" altLang="en-US" sz="20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SG" altLang="en-US" sz="20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atau</a:t>
            </a:r>
            <a:r>
              <a:rPr lang="en-SG" altLang="en-US" sz="20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SG" altLang="en-US" sz="20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pengelola</a:t>
            </a:r>
            <a:r>
              <a:rPr lang="en-SG" altLang="en-US" sz="20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SG" altLang="en-US" sz="20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kawasan</a:t>
            </a:r>
            <a:r>
              <a:rPr lang="en-SG" altLang="en-US" sz="20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, dan/ </a:t>
            </a:r>
            <a:r>
              <a:rPr lang="en-SG" altLang="en-US" sz="20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atau</a:t>
            </a:r>
            <a:r>
              <a:rPr lang="en-SG" altLang="en-US" sz="20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Perusahaan, </a:t>
            </a:r>
            <a:r>
              <a:rPr lang="en-SG" altLang="en-US" sz="20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wajib</a:t>
            </a:r>
            <a:r>
              <a:rPr lang="en-SG" altLang="en-US" sz="20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SG" altLang="en-US" sz="20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melakukan</a:t>
            </a:r>
            <a:r>
              <a:rPr lang="en-SG" altLang="en-US" sz="20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SG" altLang="en-US" sz="20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Pengelolaan</a:t>
            </a:r>
            <a:r>
              <a:rPr lang="en-SG" altLang="en-US" sz="20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SG" altLang="en-US" sz="20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Sampah</a:t>
            </a:r>
            <a:r>
              <a:rPr lang="en-SG" altLang="en-US" sz="20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di </a:t>
            </a:r>
            <a:r>
              <a:rPr lang="en-SG" altLang="en-US" sz="20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dalam</a:t>
            </a:r>
            <a:r>
              <a:rPr lang="en-SG" altLang="en-US" sz="20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area dan/</a:t>
            </a:r>
            <a:r>
              <a:rPr lang="en-SG" altLang="en-US" sz="20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atau</a:t>
            </a:r>
            <a:r>
              <a:rPr lang="en-SG" altLang="en-US" sz="20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SG" altLang="en-US" sz="20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fasilitas</a:t>
            </a:r>
            <a:r>
              <a:rPr lang="en-SG" altLang="en-US" sz="20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yang </a:t>
            </a:r>
            <a:r>
              <a:rPr lang="en-SG" altLang="en-US" sz="20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menjadi</a:t>
            </a:r>
            <a:r>
              <a:rPr lang="en-SG" altLang="en-US" sz="20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SG" altLang="en-US" sz="20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tanggung</a:t>
            </a:r>
            <a:r>
              <a:rPr lang="en-SG" altLang="en-US" sz="20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SG" altLang="en-US" sz="20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jawabnya</a:t>
            </a:r>
            <a:r>
              <a:rPr lang="en-SG" altLang="en-US" sz="20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. </a:t>
            </a:r>
            <a:endParaRPr lang="en-SG" altLang="en-US" sz="20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SG" altLang="en-US" sz="20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(2) Kawasan </a:t>
            </a:r>
            <a:r>
              <a:rPr lang="en-SG" altLang="en-US" sz="20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sebagaimana</a:t>
            </a:r>
            <a:r>
              <a:rPr lang="en-SG" altLang="en-US" sz="20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en-SG" altLang="en-US" sz="20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dimaksud</a:t>
            </a:r>
            <a:r>
              <a:rPr lang="en-SG" altLang="en-US" sz="20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pada </a:t>
            </a:r>
            <a:r>
              <a:rPr lang="en-SG" altLang="en-US" sz="20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ayat</a:t>
            </a:r>
            <a:r>
              <a:rPr lang="en-SG" altLang="en-US" sz="20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(1) </a:t>
            </a:r>
            <a:r>
              <a:rPr lang="en-SG" altLang="en-US" sz="20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meliputi</a:t>
            </a:r>
            <a:r>
              <a:rPr lang="en-SG" altLang="en-US" sz="20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: </a:t>
            </a:r>
            <a:endParaRPr lang="en-SG" altLang="en-US" sz="20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SG" altLang="en-US" sz="20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a. Kawasan </a:t>
            </a:r>
            <a:r>
              <a:rPr lang="en-SG" altLang="en-US" sz="20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Permukiman</a:t>
            </a:r>
            <a:r>
              <a:rPr lang="en-SG" altLang="en-US" sz="20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; </a:t>
            </a:r>
            <a:endParaRPr lang="en-SG" altLang="en-US" sz="20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SG" altLang="en-US" sz="20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b. Kawasan </a:t>
            </a:r>
            <a:r>
              <a:rPr lang="en-SG" altLang="en-US" sz="20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Komersial</a:t>
            </a:r>
            <a:r>
              <a:rPr lang="en-SG" altLang="en-US" sz="20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; dan </a:t>
            </a:r>
            <a:endParaRPr lang="en-SG" altLang="en-US" sz="20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SG" altLang="en-US" sz="20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c. Kawasan </a:t>
            </a:r>
            <a:r>
              <a:rPr lang="en-SG" altLang="en-US" sz="20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Industri</a:t>
            </a:r>
            <a:r>
              <a:rPr lang="en-SG" altLang="en-US" sz="20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.</a:t>
            </a:r>
            <a:endParaRPr lang="en-ID" sz="2000" dirty="0"/>
          </a:p>
        </p:txBody>
      </p:sp>
    </p:spTree>
    <p:extLst>
      <p:ext uri="{BB962C8B-B14F-4D97-AF65-F5344CB8AC3E}">
        <p14:creationId xmlns:p14="http://schemas.microsoft.com/office/powerpoint/2010/main" val="23583135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3DBA6-33FF-408C-8F2B-157485B8D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 fontScale="90000"/>
          </a:bodyPr>
          <a:lstStyle/>
          <a:p>
            <a:pPr>
              <a:lnSpc>
                <a:spcPct val="80000"/>
              </a:lnSpc>
            </a:pPr>
            <a:r>
              <a:rPr lang="en-US" sz="1800" b="1" dirty="0">
                <a:sym typeface="+mn-ea"/>
              </a:rPr>
              <a:t>PERATURAN MENTERI PEKERJAAN UMUM</a:t>
            </a:r>
            <a:r>
              <a:rPr lang="en-SG" altLang="en-US" sz="1800" b="1" dirty="0">
                <a:sym typeface="+mn-ea"/>
              </a:rPr>
              <a:t> </a:t>
            </a:r>
            <a:r>
              <a:rPr lang="en-US" sz="1800" b="1" dirty="0">
                <a:sym typeface="+mn-ea"/>
              </a:rPr>
              <a:t>NOMOR : 09/P</a:t>
            </a:r>
            <a:r>
              <a:rPr lang="en-SG" altLang="en-US" sz="1800" b="1" dirty="0">
                <a:sym typeface="+mn-ea"/>
              </a:rPr>
              <a:t>E</a:t>
            </a:r>
            <a:r>
              <a:rPr lang="en-US" sz="1800" b="1" dirty="0">
                <a:sym typeface="+mn-ea"/>
              </a:rPr>
              <a:t>R/M/2008</a:t>
            </a:r>
            <a:br>
              <a:rPr lang="en-US" sz="1800" b="1" dirty="0"/>
            </a:br>
            <a:r>
              <a:rPr lang="en-US" sz="1800" b="1" dirty="0">
                <a:sym typeface="+mn-ea"/>
              </a:rPr>
              <a:t>TENTANG</a:t>
            </a:r>
            <a:br>
              <a:rPr lang="en-US" sz="1800" b="1" dirty="0"/>
            </a:br>
            <a:r>
              <a:rPr lang="en-US" sz="1800" b="1" dirty="0">
                <a:sym typeface="+mn-ea"/>
              </a:rPr>
              <a:t>PEDOMAN SISTEM MANAJEMEN KESELAMATAN </a:t>
            </a:r>
            <a:r>
              <a:rPr lang="en-SG" altLang="en-US" sz="1800" b="1" dirty="0">
                <a:sym typeface="+mn-ea"/>
              </a:rPr>
              <a:t> </a:t>
            </a:r>
            <a:r>
              <a:rPr lang="en-US" sz="1800" b="1" dirty="0">
                <a:sym typeface="+mn-ea"/>
              </a:rPr>
              <a:t>DAN KESEHATAN KERJA (K3)</a:t>
            </a:r>
            <a:br>
              <a:rPr lang="en-US" sz="4400" b="1" dirty="0"/>
            </a:b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C4CD8-FF03-49D0-9C1C-395B37BEF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 fontScale="47500" lnSpcReduction="20000"/>
          </a:bodyPr>
          <a:lstStyle/>
          <a:p>
            <a:pPr algn="ctr"/>
            <a:r>
              <a:rPr lang="en-SG" altLang="en-US" sz="3200" dirty="0">
                <a:solidFill>
                  <a:schemeClr val="tx1"/>
                </a:solidFill>
              </a:rPr>
              <a:t>BAB III </a:t>
            </a:r>
          </a:p>
          <a:p>
            <a:pPr algn="ctr"/>
            <a:r>
              <a:rPr lang="en-SG" altLang="en-US" sz="3200" dirty="0">
                <a:solidFill>
                  <a:schemeClr val="tx1"/>
                </a:solidFill>
              </a:rPr>
              <a:t>KETENTUAN PENYELENGGARAAN SISTEM MANAJEMEN K3 (SMK3) KONSTRUKSI </a:t>
            </a:r>
            <a:endParaRPr lang="en-SG" altLang="en-US" dirty="0">
              <a:solidFill>
                <a:schemeClr val="tx1"/>
              </a:solidFill>
            </a:endParaRPr>
          </a:p>
          <a:p>
            <a:pPr algn="ctr"/>
            <a:r>
              <a:rPr lang="en-SG" altLang="en-US" sz="3200" dirty="0" err="1">
                <a:solidFill>
                  <a:schemeClr val="tx1"/>
                </a:solidFill>
              </a:rPr>
              <a:t>Pasal</a:t>
            </a:r>
            <a:r>
              <a:rPr lang="en-SG" altLang="en-US" sz="3200" dirty="0">
                <a:solidFill>
                  <a:schemeClr val="tx1"/>
                </a:solidFill>
              </a:rPr>
              <a:t> 4</a:t>
            </a:r>
          </a:p>
          <a:p>
            <a:pPr algn="l"/>
            <a:r>
              <a:rPr lang="en-SG" altLang="en-US" sz="3200" dirty="0">
                <a:solidFill>
                  <a:schemeClr val="tx1"/>
                </a:solidFill>
              </a:rPr>
              <a:t>1.Kegiatan Jasa </a:t>
            </a:r>
            <a:r>
              <a:rPr lang="en-SG" altLang="en-US" sz="3200" dirty="0" err="1">
                <a:solidFill>
                  <a:schemeClr val="tx1"/>
                </a:solidFill>
              </a:rPr>
              <a:t>Konstruksi</a:t>
            </a:r>
            <a:r>
              <a:rPr lang="en-SG" altLang="en-US" sz="3200" dirty="0">
                <a:solidFill>
                  <a:schemeClr val="tx1"/>
                </a:solidFill>
              </a:rPr>
              <a:t> yang </a:t>
            </a:r>
            <a:r>
              <a:rPr lang="en-SG" altLang="en-US" sz="3200" dirty="0" err="1">
                <a:solidFill>
                  <a:schemeClr val="tx1"/>
                </a:solidFill>
              </a:rPr>
              <a:t>dilaksanakan</a:t>
            </a:r>
            <a:r>
              <a:rPr lang="en-SG" altLang="en-US" sz="3200" dirty="0">
                <a:solidFill>
                  <a:schemeClr val="tx1"/>
                </a:solidFill>
              </a:rPr>
              <a:t> oleh </a:t>
            </a:r>
            <a:r>
              <a:rPr lang="en-SG" altLang="en-US" sz="3200" dirty="0" err="1">
                <a:solidFill>
                  <a:schemeClr val="tx1"/>
                </a:solidFill>
              </a:rPr>
              <a:t>pengguna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jasa</a:t>
            </a:r>
            <a:r>
              <a:rPr lang="en-SG" altLang="en-US" sz="3200" dirty="0">
                <a:solidFill>
                  <a:schemeClr val="tx1"/>
                </a:solidFill>
              </a:rPr>
              <a:t>/</a:t>
            </a:r>
            <a:r>
              <a:rPr lang="en-SG" altLang="en-US" sz="3200" dirty="0" err="1">
                <a:solidFill>
                  <a:schemeClr val="tx1"/>
                </a:solidFill>
              </a:rPr>
              <a:t>penyedia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jasa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terdiri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</a:p>
          <a:p>
            <a:pPr algn="l"/>
            <a:r>
              <a:rPr lang="en-SG" altLang="en-US" sz="3200" dirty="0" err="1">
                <a:solidFill>
                  <a:schemeClr val="tx1"/>
                </a:solidFill>
              </a:rPr>
              <a:t>dari</a:t>
            </a:r>
            <a:r>
              <a:rPr lang="en-SG" altLang="en-US" sz="3200" dirty="0">
                <a:solidFill>
                  <a:schemeClr val="tx1"/>
                </a:solidFill>
              </a:rPr>
              <a:t> Jasa </a:t>
            </a:r>
            <a:r>
              <a:rPr lang="en-SG" altLang="en-US" sz="3200" dirty="0" err="1">
                <a:solidFill>
                  <a:schemeClr val="tx1"/>
                </a:solidFill>
              </a:rPr>
              <a:t>Pemborongan</a:t>
            </a:r>
            <a:r>
              <a:rPr lang="en-SG" altLang="en-US" sz="3200" dirty="0">
                <a:solidFill>
                  <a:schemeClr val="tx1"/>
                </a:solidFill>
              </a:rPr>
              <a:t>, Jasa </a:t>
            </a:r>
            <a:r>
              <a:rPr lang="en-SG" altLang="en-US" sz="3200" dirty="0" err="1">
                <a:solidFill>
                  <a:schemeClr val="tx1"/>
                </a:solidFill>
              </a:rPr>
              <a:t>Konsultansi</a:t>
            </a:r>
            <a:r>
              <a:rPr lang="en-SG" altLang="en-US" sz="3200" dirty="0">
                <a:solidFill>
                  <a:schemeClr val="tx1"/>
                </a:solidFill>
              </a:rPr>
              <a:t> dan </a:t>
            </a:r>
            <a:r>
              <a:rPr lang="en-SG" altLang="en-US" sz="3200" dirty="0" err="1">
                <a:solidFill>
                  <a:schemeClr val="tx1"/>
                </a:solidFill>
              </a:rPr>
              <a:t>Kegiatan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Swakelola</a:t>
            </a:r>
            <a:r>
              <a:rPr lang="en-SG" altLang="en-US" sz="3200" dirty="0">
                <a:solidFill>
                  <a:schemeClr val="tx1"/>
                </a:solidFill>
              </a:rPr>
              <a:t> yang </a:t>
            </a:r>
            <a:r>
              <a:rPr lang="en-SG" altLang="en-US" sz="3200" dirty="0" err="1">
                <a:solidFill>
                  <a:schemeClr val="tx1"/>
                </a:solidFill>
              </a:rPr>
              <a:t>aktifitasnya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melibatkan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tenaga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kerja</a:t>
            </a:r>
            <a:r>
              <a:rPr lang="en-SG" altLang="en-US" sz="3200" dirty="0">
                <a:solidFill>
                  <a:schemeClr val="tx1"/>
                </a:solidFill>
              </a:rPr>
              <a:t> dan </a:t>
            </a:r>
            <a:r>
              <a:rPr lang="en-SG" altLang="en-US" sz="3200" dirty="0" err="1">
                <a:solidFill>
                  <a:schemeClr val="tx1"/>
                </a:solidFill>
              </a:rPr>
              <a:t>peralatan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kerja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untuk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keperluan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pelaksanaan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pekerjaan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fisik</a:t>
            </a:r>
            <a:r>
              <a:rPr lang="en-SG" altLang="en-US" sz="3200" dirty="0">
                <a:solidFill>
                  <a:schemeClr val="tx1"/>
                </a:solidFill>
              </a:rPr>
              <a:t> di </a:t>
            </a:r>
            <a:r>
              <a:rPr lang="en-SG" altLang="en-US" sz="3200" dirty="0" err="1">
                <a:solidFill>
                  <a:schemeClr val="tx1"/>
                </a:solidFill>
              </a:rPr>
              <a:t>lapangan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wajib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menyelenggarakan</a:t>
            </a:r>
            <a:r>
              <a:rPr lang="en-SG" altLang="en-US" sz="3200" dirty="0">
                <a:solidFill>
                  <a:schemeClr val="tx1"/>
                </a:solidFill>
              </a:rPr>
              <a:t> SMK3 </a:t>
            </a:r>
            <a:r>
              <a:rPr lang="en-SG" altLang="en-US" sz="3200" dirty="0" err="1">
                <a:solidFill>
                  <a:schemeClr val="tx1"/>
                </a:solidFill>
              </a:rPr>
              <a:t>Konstruksi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Bidang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Pekerjaan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Umum</a:t>
            </a:r>
            <a:r>
              <a:rPr lang="en-SG" altLang="en-US" sz="3200" dirty="0">
                <a:solidFill>
                  <a:schemeClr val="tx1"/>
                </a:solidFill>
              </a:rPr>
              <a:t>.</a:t>
            </a:r>
          </a:p>
          <a:p>
            <a:pPr algn="l"/>
            <a:r>
              <a:rPr lang="en-SG" altLang="en-US" sz="3200" dirty="0">
                <a:solidFill>
                  <a:schemeClr val="tx1"/>
                </a:solidFill>
              </a:rPr>
              <a:t>2.Penyelenggaraan SMK3 </a:t>
            </a:r>
            <a:r>
              <a:rPr lang="en-SG" altLang="en-US" sz="3200" dirty="0" err="1">
                <a:solidFill>
                  <a:schemeClr val="tx1"/>
                </a:solidFill>
              </a:rPr>
              <a:t>Konstruksi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Bidang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Pekerjaan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Umum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wajib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menggunakan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</a:p>
          <a:p>
            <a:pPr algn="l"/>
            <a:r>
              <a:rPr lang="en-SG" altLang="en-US" sz="3200" dirty="0" err="1">
                <a:solidFill>
                  <a:schemeClr val="tx1"/>
                </a:solidFill>
              </a:rPr>
              <a:t>Pedoman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ini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beserta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lampirannya</a:t>
            </a:r>
            <a:r>
              <a:rPr lang="en-SG" altLang="en-US" sz="3200" dirty="0">
                <a:solidFill>
                  <a:schemeClr val="tx1"/>
                </a:solidFill>
              </a:rPr>
              <a:t>. </a:t>
            </a:r>
          </a:p>
          <a:p>
            <a:pPr algn="l"/>
            <a:r>
              <a:rPr lang="en-SG" altLang="en-US" sz="3200" dirty="0">
                <a:solidFill>
                  <a:schemeClr val="tx1"/>
                </a:solidFill>
              </a:rPr>
              <a:t>3.Penyelenggaraan SMK3 </a:t>
            </a:r>
            <a:r>
              <a:rPr lang="en-SG" altLang="en-US" sz="3200" dirty="0" err="1">
                <a:solidFill>
                  <a:schemeClr val="tx1"/>
                </a:solidFill>
              </a:rPr>
              <a:t>Konstruksi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Bidang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Pekerjaan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Umum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dikelompokkan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menjadi</a:t>
            </a:r>
            <a:r>
              <a:rPr lang="en-SG" altLang="en-US" sz="3200" dirty="0">
                <a:solidFill>
                  <a:schemeClr val="tx1"/>
                </a:solidFill>
              </a:rPr>
              <a:t> 3 (</a:t>
            </a:r>
            <a:r>
              <a:rPr lang="en-SG" altLang="en-US" sz="3200" dirty="0" err="1">
                <a:solidFill>
                  <a:schemeClr val="tx1"/>
                </a:solidFill>
              </a:rPr>
              <a:t>tiga</a:t>
            </a:r>
            <a:r>
              <a:rPr lang="en-SG" altLang="en-US" sz="3200" dirty="0">
                <a:solidFill>
                  <a:schemeClr val="tx1"/>
                </a:solidFill>
              </a:rPr>
              <a:t>) </a:t>
            </a:r>
            <a:r>
              <a:rPr lang="en-SG" altLang="en-US" sz="3200" dirty="0" err="1">
                <a:solidFill>
                  <a:schemeClr val="tx1"/>
                </a:solidFill>
              </a:rPr>
              <a:t>kategori</a:t>
            </a:r>
            <a:r>
              <a:rPr lang="en-SG" altLang="en-US" sz="3200" dirty="0">
                <a:solidFill>
                  <a:schemeClr val="tx1"/>
                </a:solidFill>
              </a:rPr>
              <a:t>, </a:t>
            </a:r>
            <a:r>
              <a:rPr lang="en-SG" altLang="en-US" sz="3200" dirty="0" err="1">
                <a:solidFill>
                  <a:schemeClr val="tx1"/>
                </a:solidFill>
              </a:rPr>
              <a:t>yaitu</a:t>
            </a:r>
            <a:r>
              <a:rPr lang="en-SG" altLang="en-US" sz="3200" dirty="0">
                <a:solidFill>
                  <a:schemeClr val="tx1"/>
                </a:solidFill>
              </a:rPr>
              <a:t> : a </a:t>
            </a:r>
            <a:r>
              <a:rPr lang="en-SG" altLang="en-US" sz="3200" dirty="0" err="1">
                <a:solidFill>
                  <a:schemeClr val="tx1"/>
                </a:solidFill>
              </a:rPr>
              <a:t>Risiko</a:t>
            </a:r>
            <a:r>
              <a:rPr lang="en-SG" altLang="en-US" sz="3200" dirty="0">
                <a:solidFill>
                  <a:schemeClr val="tx1"/>
                </a:solidFill>
              </a:rPr>
              <a:t> Tinggi; b </a:t>
            </a:r>
            <a:r>
              <a:rPr lang="en-SG" altLang="en-US" sz="3200" dirty="0" err="1">
                <a:solidFill>
                  <a:schemeClr val="tx1"/>
                </a:solidFill>
              </a:rPr>
              <a:t>Risiko</a:t>
            </a:r>
            <a:r>
              <a:rPr lang="en-SG" altLang="en-US" sz="3200" dirty="0">
                <a:solidFill>
                  <a:schemeClr val="tx1"/>
                </a:solidFill>
              </a:rPr>
              <a:t> Sedang; c </a:t>
            </a:r>
            <a:r>
              <a:rPr lang="en-SG" altLang="en-US" sz="3200" dirty="0" err="1">
                <a:solidFill>
                  <a:schemeClr val="tx1"/>
                </a:solidFill>
              </a:rPr>
              <a:t>Risiko</a:t>
            </a:r>
            <a:r>
              <a:rPr lang="en-SG" altLang="en-US" sz="3200" dirty="0">
                <a:solidFill>
                  <a:schemeClr val="tx1"/>
                </a:solidFill>
              </a:rPr>
              <a:t> Kecil. </a:t>
            </a:r>
          </a:p>
          <a:p>
            <a:pPr algn="l"/>
            <a:r>
              <a:rPr lang="en-SG" altLang="en-US" sz="3200" dirty="0">
                <a:solidFill>
                  <a:schemeClr val="tx1"/>
                </a:solidFill>
              </a:rPr>
              <a:t>4.Kinerja </a:t>
            </a:r>
            <a:r>
              <a:rPr lang="en-SG" altLang="en-US" sz="3200" dirty="0" err="1">
                <a:solidFill>
                  <a:schemeClr val="tx1"/>
                </a:solidFill>
              </a:rPr>
              <a:t>penerapan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Penyelenggaraan</a:t>
            </a:r>
            <a:r>
              <a:rPr lang="en-SG" altLang="en-US" sz="3200" dirty="0">
                <a:solidFill>
                  <a:schemeClr val="tx1"/>
                </a:solidFill>
              </a:rPr>
              <a:t> SMK3 </a:t>
            </a:r>
            <a:r>
              <a:rPr lang="en-SG" altLang="en-US" sz="3200" dirty="0" err="1">
                <a:solidFill>
                  <a:schemeClr val="tx1"/>
                </a:solidFill>
              </a:rPr>
              <a:t>Konstruksi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Bidang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Pekerjaan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Umum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dibagi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menjadi</a:t>
            </a:r>
            <a:r>
              <a:rPr lang="en-SG" altLang="en-US" sz="3200" dirty="0">
                <a:solidFill>
                  <a:schemeClr val="tx1"/>
                </a:solidFill>
              </a:rPr>
              <a:t> 3 (</a:t>
            </a:r>
            <a:r>
              <a:rPr lang="en-SG" altLang="en-US" sz="3200" dirty="0" err="1">
                <a:solidFill>
                  <a:schemeClr val="tx1"/>
                </a:solidFill>
              </a:rPr>
              <a:t>tiga</a:t>
            </a:r>
            <a:r>
              <a:rPr lang="en-SG" altLang="en-US" sz="3200" dirty="0">
                <a:solidFill>
                  <a:schemeClr val="tx1"/>
                </a:solidFill>
              </a:rPr>
              <a:t>), </a:t>
            </a:r>
            <a:r>
              <a:rPr lang="en-SG" altLang="en-US" sz="3200" dirty="0" err="1">
                <a:solidFill>
                  <a:schemeClr val="tx1"/>
                </a:solidFill>
              </a:rPr>
              <a:t>yaitu</a:t>
            </a:r>
            <a:r>
              <a:rPr lang="en-SG" altLang="en-US" sz="3200" dirty="0">
                <a:solidFill>
                  <a:schemeClr val="tx1"/>
                </a:solidFill>
              </a:rPr>
              <a:t> : a. </a:t>
            </a:r>
            <a:r>
              <a:rPr lang="en-SG" altLang="en-US" sz="3200" dirty="0" err="1">
                <a:solidFill>
                  <a:schemeClr val="tx1"/>
                </a:solidFill>
              </a:rPr>
              <a:t>Baik</a:t>
            </a:r>
            <a:r>
              <a:rPr lang="en-SG" altLang="en-US" sz="3200" dirty="0">
                <a:solidFill>
                  <a:schemeClr val="tx1"/>
                </a:solidFill>
              </a:rPr>
              <a:t>, </a:t>
            </a:r>
            <a:r>
              <a:rPr lang="en-SG" altLang="en-US" sz="3200" dirty="0" err="1">
                <a:solidFill>
                  <a:schemeClr val="tx1"/>
                </a:solidFill>
              </a:rPr>
              <a:t>bila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mencapai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hasil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penilaian</a:t>
            </a:r>
            <a:r>
              <a:rPr lang="en-SG" altLang="en-US" sz="3200" dirty="0">
                <a:solidFill>
                  <a:schemeClr val="tx1"/>
                </a:solidFill>
              </a:rPr>
              <a:t> &gt; 85%; b. Sedang, </a:t>
            </a:r>
            <a:r>
              <a:rPr lang="en-SG" altLang="en-US" sz="3200" dirty="0" err="1">
                <a:solidFill>
                  <a:schemeClr val="tx1"/>
                </a:solidFill>
              </a:rPr>
              <a:t>bila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mencapai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hasil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penilaian</a:t>
            </a:r>
            <a:r>
              <a:rPr lang="en-SG" altLang="en-US" sz="3200" dirty="0">
                <a:solidFill>
                  <a:schemeClr val="tx1"/>
                </a:solidFill>
              </a:rPr>
              <a:t> 60 % - 85%; c. Kurang, </a:t>
            </a:r>
            <a:r>
              <a:rPr lang="en-SG" altLang="en-US" sz="3200" dirty="0" err="1">
                <a:solidFill>
                  <a:schemeClr val="tx1"/>
                </a:solidFill>
              </a:rPr>
              <a:t>bila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mencapai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hasil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penilaian</a:t>
            </a:r>
            <a:r>
              <a:rPr lang="en-SG" altLang="en-US" sz="3200" dirty="0">
                <a:solidFill>
                  <a:schemeClr val="tx1"/>
                </a:solidFill>
              </a:rPr>
              <a:t> &lt; 60 % </a:t>
            </a:r>
          </a:p>
          <a:p>
            <a:pPr algn="l"/>
            <a:r>
              <a:rPr lang="en-SG" altLang="en-US" sz="3200" dirty="0">
                <a:solidFill>
                  <a:schemeClr val="tx1"/>
                </a:solidFill>
              </a:rPr>
              <a:t>5.Dalam </a:t>
            </a:r>
            <a:r>
              <a:rPr lang="en-SG" altLang="en-US" sz="3200" dirty="0" err="1">
                <a:solidFill>
                  <a:schemeClr val="tx1"/>
                </a:solidFill>
              </a:rPr>
              <a:t>rangka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Penyelenggaraan</a:t>
            </a:r>
            <a:r>
              <a:rPr lang="en-SG" altLang="en-US" sz="3200" dirty="0">
                <a:solidFill>
                  <a:schemeClr val="tx1"/>
                </a:solidFill>
              </a:rPr>
              <a:t> SMK3 </a:t>
            </a:r>
            <a:r>
              <a:rPr lang="en-SG" altLang="en-US" sz="3200" dirty="0" err="1">
                <a:solidFill>
                  <a:schemeClr val="tx1"/>
                </a:solidFill>
              </a:rPr>
              <a:t>Konstruksi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Bidang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Pekerjaan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Umum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harus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dibuat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Rencana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Keselamatan</a:t>
            </a:r>
            <a:r>
              <a:rPr lang="en-SG" altLang="en-US" sz="3200" dirty="0">
                <a:solidFill>
                  <a:schemeClr val="tx1"/>
                </a:solidFill>
              </a:rPr>
              <a:t> dan Kesehatan </a:t>
            </a:r>
            <a:r>
              <a:rPr lang="en-SG" altLang="en-US" sz="3200" dirty="0" err="1">
                <a:solidFill>
                  <a:schemeClr val="tx1"/>
                </a:solidFill>
              </a:rPr>
              <a:t>Kerja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Kontrak</a:t>
            </a:r>
            <a:r>
              <a:rPr lang="en-SG" altLang="en-US" sz="3200" dirty="0">
                <a:solidFill>
                  <a:schemeClr val="tx1"/>
                </a:solidFill>
              </a:rPr>
              <a:t> (RK3K) oleh </a:t>
            </a:r>
            <a:r>
              <a:rPr lang="en-SG" altLang="en-US" sz="3200" dirty="0" err="1">
                <a:solidFill>
                  <a:schemeClr val="tx1"/>
                </a:solidFill>
              </a:rPr>
              <a:t>Penyedia</a:t>
            </a:r>
            <a:r>
              <a:rPr lang="en-SG" altLang="en-US" sz="3200" dirty="0">
                <a:solidFill>
                  <a:schemeClr val="tx1"/>
                </a:solidFill>
              </a:rPr>
              <a:t> Jasa dan </a:t>
            </a:r>
            <a:r>
              <a:rPr lang="en-SG" altLang="en-US" sz="3200" dirty="0" err="1">
                <a:solidFill>
                  <a:schemeClr val="tx1"/>
                </a:solidFill>
              </a:rPr>
              <a:t>disetujui</a:t>
            </a:r>
            <a:r>
              <a:rPr lang="en-SG" altLang="en-US" sz="3200" dirty="0">
                <a:solidFill>
                  <a:schemeClr val="tx1"/>
                </a:solidFill>
              </a:rPr>
              <a:t> oleh </a:t>
            </a:r>
            <a:r>
              <a:rPr lang="en-SG" altLang="en-US" sz="3200" dirty="0" err="1">
                <a:solidFill>
                  <a:schemeClr val="tx1"/>
                </a:solidFill>
              </a:rPr>
              <a:t>Pengguna</a:t>
            </a:r>
            <a:r>
              <a:rPr lang="en-SG" altLang="en-US" sz="3200" dirty="0">
                <a:solidFill>
                  <a:schemeClr val="tx1"/>
                </a:solidFill>
              </a:rPr>
              <a:t> Jasa. </a:t>
            </a:r>
          </a:p>
          <a:p>
            <a:pPr algn="l"/>
            <a:r>
              <a:rPr lang="en-SG" altLang="en-US" sz="3200" dirty="0">
                <a:solidFill>
                  <a:schemeClr val="tx1"/>
                </a:solidFill>
              </a:rPr>
              <a:t>6.Di </a:t>
            </a:r>
            <a:r>
              <a:rPr lang="en-SG" altLang="en-US" sz="3200" dirty="0" err="1">
                <a:solidFill>
                  <a:schemeClr val="tx1"/>
                </a:solidFill>
              </a:rPr>
              <a:t>tempat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kerja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harus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selalu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terdapat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pekerja</a:t>
            </a:r>
            <a:r>
              <a:rPr lang="en-SG" altLang="en-US" sz="3200" dirty="0">
                <a:solidFill>
                  <a:schemeClr val="tx1"/>
                </a:solidFill>
              </a:rPr>
              <a:t> yang </a:t>
            </a:r>
            <a:r>
              <a:rPr lang="en-SG" altLang="en-US" sz="3200" dirty="0" err="1">
                <a:solidFill>
                  <a:schemeClr val="tx1"/>
                </a:solidFill>
              </a:rPr>
              <a:t>sudah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terlatih</a:t>
            </a:r>
            <a:r>
              <a:rPr lang="en-SG" altLang="en-US" sz="3200" dirty="0">
                <a:solidFill>
                  <a:schemeClr val="tx1"/>
                </a:solidFill>
              </a:rPr>
              <a:t> dan/</a:t>
            </a:r>
            <a:r>
              <a:rPr lang="en-SG" altLang="en-US" sz="3200" dirty="0" err="1">
                <a:solidFill>
                  <a:schemeClr val="tx1"/>
                </a:solidFill>
              </a:rPr>
              <a:t>atau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bertanggung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jawab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dalam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Pertolongan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Pertama</a:t>
            </a:r>
            <a:r>
              <a:rPr lang="en-SG" altLang="en-US" sz="3200" dirty="0">
                <a:solidFill>
                  <a:schemeClr val="tx1"/>
                </a:solidFill>
              </a:rPr>
              <a:t> Pada </a:t>
            </a:r>
            <a:r>
              <a:rPr lang="en-SG" altLang="en-US" sz="3200" dirty="0" err="1">
                <a:solidFill>
                  <a:schemeClr val="tx1"/>
                </a:solidFill>
              </a:rPr>
              <a:t>Kecelakaan</a:t>
            </a:r>
            <a:r>
              <a:rPr lang="en-SG" altLang="en-US" sz="3200" dirty="0">
                <a:solidFill>
                  <a:schemeClr val="tx1"/>
                </a:solidFill>
              </a:rPr>
              <a:t> (P3K). </a:t>
            </a:r>
          </a:p>
          <a:p>
            <a:pPr algn="l"/>
            <a:r>
              <a:rPr lang="en-SG" altLang="en-US" sz="3200" dirty="0">
                <a:solidFill>
                  <a:schemeClr val="tx1"/>
                </a:solidFill>
              </a:rPr>
              <a:t>7.Untuk </a:t>
            </a:r>
            <a:r>
              <a:rPr lang="en-SG" altLang="en-US" sz="3200" dirty="0" err="1">
                <a:solidFill>
                  <a:schemeClr val="tx1"/>
                </a:solidFill>
              </a:rPr>
              <a:t>kegiatan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swakelola</a:t>
            </a:r>
            <a:r>
              <a:rPr lang="en-SG" altLang="en-US" sz="3200" dirty="0">
                <a:solidFill>
                  <a:schemeClr val="tx1"/>
                </a:solidFill>
              </a:rPr>
              <a:t>, </a:t>
            </a:r>
            <a:r>
              <a:rPr lang="en-SG" altLang="en-US" sz="3200" dirty="0" err="1">
                <a:solidFill>
                  <a:schemeClr val="tx1"/>
                </a:solidFill>
              </a:rPr>
              <a:t>perlu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ada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penentuan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tentang</a:t>
            </a:r>
            <a:r>
              <a:rPr lang="en-SG" altLang="en-US" sz="3200" dirty="0">
                <a:solidFill>
                  <a:schemeClr val="tx1"/>
                </a:solidFill>
              </a:rPr>
              <a:t> : a. </a:t>
            </a:r>
            <a:r>
              <a:rPr lang="en-SG" altLang="en-US" sz="3200" dirty="0" err="1">
                <a:solidFill>
                  <a:schemeClr val="tx1"/>
                </a:solidFill>
              </a:rPr>
              <a:t>Pihak</a:t>
            </a:r>
            <a:r>
              <a:rPr lang="en-SG" altLang="en-US" sz="3200" dirty="0">
                <a:solidFill>
                  <a:schemeClr val="tx1"/>
                </a:solidFill>
              </a:rPr>
              <a:t> yang </a:t>
            </a:r>
            <a:r>
              <a:rPr lang="en-SG" altLang="en-US" sz="3200" dirty="0" err="1">
                <a:solidFill>
                  <a:schemeClr val="tx1"/>
                </a:solidFill>
              </a:rPr>
              <a:t>berperan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sebagai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Penyelenggara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Langsung</a:t>
            </a:r>
            <a:r>
              <a:rPr lang="en-SG" altLang="en-US" sz="3200" dirty="0">
                <a:solidFill>
                  <a:schemeClr val="tx1"/>
                </a:solidFill>
              </a:rPr>
              <a:t>; b. </a:t>
            </a:r>
            <a:r>
              <a:rPr lang="en-SG" altLang="en-US" sz="3200" dirty="0" err="1">
                <a:solidFill>
                  <a:schemeClr val="tx1"/>
                </a:solidFill>
              </a:rPr>
              <a:t>Pihak</a:t>
            </a:r>
            <a:r>
              <a:rPr lang="en-SG" altLang="en-US" sz="3200" dirty="0">
                <a:solidFill>
                  <a:schemeClr val="tx1"/>
                </a:solidFill>
              </a:rPr>
              <a:t> yang </a:t>
            </a:r>
            <a:r>
              <a:rPr lang="en-SG" altLang="en-US" sz="3200" dirty="0" err="1">
                <a:solidFill>
                  <a:schemeClr val="tx1"/>
                </a:solidFill>
              </a:rPr>
              <a:t>berperan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sebagai</a:t>
            </a:r>
            <a:r>
              <a:rPr lang="en-SG" altLang="en-US" sz="3200" dirty="0">
                <a:solidFill>
                  <a:schemeClr val="tx1"/>
                </a:solidFill>
              </a:rPr>
              <a:t> </a:t>
            </a:r>
            <a:r>
              <a:rPr lang="en-SG" altLang="en-US" sz="3200" dirty="0" err="1">
                <a:solidFill>
                  <a:schemeClr val="tx1"/>
                </a:solidFill>
              </a:rPr>
              <a:t>Pengendali</a:t>
            </a:r>
            <a:r>
              <a:rPr lang="en-SG" altLang="en-US" sz="3200" dirty="0">
                <a:solidFill>
                  <a:schemeClr val="tx1"/>
                </a:solidFill>
              </a:rPr>
              <a:t>. 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9967159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9B331-3FF1-4319-989F-F24464E4E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 fontScale="90000"/>
          </a:bodyPr>
          <a:lstStyle/>
          <a:p>
            <a:r>
              <a:rPr lang="en-SG" altLang="en-US" sz="2200" b="1" dirty="0">
                <a:sym typeface="+mn-ea"/>
              </a:rPr>
              <a:t>KEPUTUSAN MENTERI KETENAGAKERJAAN  </a:t>
            </a:r>
            <a:r>
              <a:rPr lang="en-US" sz="2200" b="1" dirty="0">
                <a:sym typeface="+mn-ea"/>
              </a:rPr>
              <a:t>NOMOR 115 TAHUN 2015</a:t>
            </a:r>
            <a:r>
              <a:rPr lang="en-SG" altLang="en-US" sz="2200" b="1" dirty="0">
                <a:sym typeface="+mn-ea"/>
              </a:rPr>
              <a:t> TENTANG </a:t>
            </a:r>
            <a:r>
              <a:rPr lang="en-US" sz="2200" b="1" dirty="0">
                <a:sym typeface="+mn-ea"/>
              </a:rPr>
              <a:t>SKKNI JABATAN KERJA </a:t>
            </a:r>
            <a:r>
              <a:rPr lang="en-SG" altLang="en-US" sz="2200" b="1" dirty="0">
                <a:sym typeface="+mn-ea"/>
              </a:rPr>
              <a:t>                                                           </a:t>
            </a:r>
            <a:br>
              <a:rPr lang="en-SG" altLang="en-US" sz="2200" b="1" dirty="0">
                <a:sym typeface="+mn-ea"/>
              </a:rPr>
            </a:br>
            <a:r>
              <a:rPr lang="en-SG" altLang="en-US" sz="2200" b="1" dirty="0">
                <a:sym typeface="+mn-ea"/>
              </a:rPr>
              <a:t> </a:t>
            </a:r>
            <a:r>
              <a:rPr lang="en-US" sz="2200" b="1" dirty="0">
                <a:sym typeface="+mn-ea"/>
              </a:rPr>
              <a:t>MANAJER PENGELOLAAN</a:t>
            </a:r>
            <a:r>
              <a:rPr lang="en-SG" altLang="en-US" sz="2200" b="1" dirty="0">
                <a:sym typeface="+mn-ea"/>
              </a:rPr>
              <a:t> </a:t>
            </a:r>
            <a:r>
              <a:rPr lang="en-US" sz="2200" b="1" dirty="0">
                <a:sym typeface="+mn-ea"/>
              </a:rPr>
              <a:t>BANGUNAN GEDUNG</a:t>
            </a:r>
            <a:br>
              <a:rPr lang="en-SG" altLang="en-US" sz="2800" dirty="0">
                <a:solidFill>
                  <a:srgbClr val="0070C0"/>
                </a:solidFill>
              </a:rPr>
            </a:br>
            <a:endParaRPr lang="en-ID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A606F-81A6-438F-8672-9CCABE879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3200" dirty="0">
                <a:sym typeface="+mn-ea"/>
              </a:rPr>
              <a:t>KOMPETENSI 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2200" dirty="0">
                <a:sym typeface="+mn-ea"/>
              </a:rPr>
              <a:t>1.Menerapkan </a:t>
            </a:r>
            <a:r>
              <a:rPr lang="en-US" sz="2200" dirty="0" err="1">
                <a:sym typeface="+mn-ea"/>
              </a:rPr>
              <a:t>Sistem</a:t>
            </a:r>
            <a:r>
              <a:rPr lang="en-US" sz="2200" dirty="0">
                <a:sym typeface="+mn-ea"/>
              </a:rPr>
              <a:t> </a:t>
            </a:r>
            <a:r>
              <a:rPr lang="en-US" sz="2200" dirty="0" err="1">
                <a:sym typeface="+mn-ea"/>
              </a:rPr>
              <a:t>Manajemen</a:t>
            </a:r>
            <a:r>
              <a:rPr lang="en-US" sz="2200" dirty="0">
                <a:sym typeface="+mn-ea"/>
              </a:rPr>
              <a:t> </a:t>
            </a:r>
            <a:r>
              <a:rPr lang="en-US" sz="2200" dirty="0" err="1">
                <a:sym typeface="+mn-ea"/>
              </a:rPr>
              <a:t>Keselamatan</a:t>
            </a:r>
            <a:r>
              <a:rPr lang="en-US" sz="2200" dirty="0">
                <a:sym typeface="+mn-ea"/>
              </a:rPr>
              <a:t> dan Kesehatan </a:t>
            </a:r>
            <a:r>
              <a:rPr lang="en-SG" altLang="en-US" sz="2200" dirty="0">
                <a:sym typeface="+mn-ea"/>
              </a:rPr>
              <a:t>  </a:t>
            </a:r>
            <a:r>
              <a:rPr lang="en-US" sz="2200" dirty="0" err="1">
                <a:sym typeface="+mn-ea"/>
              </a:rPr>
              <a:t>Kerja</a:t>
            </a:r>
            <a:r>
              <a:rPr lang="en-US" sz="2200" dirty="0">
                <a:sym typeface="+mn-ea"/>
              </a:rPr>
              <a:t> </a:t>
            </a:r>
            <a:r>
              <a:rPr lang="en-SG" altLang="en-US" sz="2200" dirty="0">
                <a:sym typeface="+mn-ea"/>
              </a:rPr>
              <a:t>     	</a:t>
            </a:r>
            <a:r>
              <a:rPr lang="en-US" sz="2200" dirty="0" err="1">
                <a:sym typeface="+mn-ea"/>
              </a:rPr>
              <a:t>serta</a:t>
            </a:r>
            <a:r>
              <a:rPr lang="en-US" sz="2200" dirty="0">
                <a:sym typeface="+mn-ea"/>
              </a:rPr>
              <a:t> </a:t>
            </a:r>
            <a:r>
              <a:rPr lang="en-US" sz="2200" dirty="0" err="1">
                <a:sym typeface="+mn-ea"/>
              </a:rPr>
              <a:t>Lingkungan</a:t>
            </a:r>
            <a:r>
              <a:rPr lang="en-US" sz="2200" dirty="0">
                <a:sym typeface="+mn-ea"/>
              </a:rPr>
              <a:t> </a:t>
            </a:r>
            <a:r>
              <a:rPr lang="en-US" sz="2200" dirty="0" err="1">
                <a:sym typeface="+mn-ea"/>
              </a:rPr>
              <a:t>Hidup</a:t>
            </a:r>
            <a:r>
              <a:rPr lang="en-US" sz="2200" dirty="0">
                <a:sym typeface="+mn-ea"/>
              </a:rPr>
              <a:t> (SMK3 LH) 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ym typeface="+mn-ea"/>
              </a:rPr>
              <a:t>2.Menentukan Target </a:t>
            </a:r>
            <a:r>
              <a:rPr lang="en-US" sz="2200" dirty="0" err="1">
                <a:sym typeface="+mn-ea"/>
              </a:rPr>
              <a:t>Keuntungan</a:t>
            </a:r>
            <a:r>
              <a:rPr lang="en-US" sz="2200" dirty="0">
                <a:sym typeface="+mn-ea"/>
              </a:rPr>
              <a:t> 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ym typeface="+mn-ea"/>
              </a:rPr>
              <a:t>3.Melaksanakan </a:t>
            </a:r>
            <a:r>
              <a:rPr lang="en-US" sz="2200" dirty="0" err="1">
                <a:sym typeface="+mn-ea"/>
              </a:rPr>
              <a:t>Pengelolaan</a:t>
            </a:r>
            <a:r>
              <a:rPr lang="en-US" sz="2200" dirty="0">
                <a:sym typeface="+mn-ea"/>
              </a:rPr>
              <a:t> </a:t>
            </a:r>
            <a:r>
              <a:rPr lang="en-US" sz="2200" dirty="0" err="1">
                <a:sym typeface="+mn-ea"/>
              </a:rPr>
              <a:t>Sumber</a:t>
            </a:r>
            <a:r>
              <a:rPr lang="en-US" sz="2200" dirty="0">
                <a:sym typeface="+mn-ea"/>
              </a:rPr>
              <a:t> </a:t>
            </a:r>
            <a:r>
              <a:rPr lang="en-US" sz="2200" dirty="0" err="1">
                <a:sym typeface="+mn-ea"/>
              </a:rPr>
              <a:t>Daya</a:t>
            </a:r>
            <a:r>
              <a:rPr lang="en-US" sz="2200" dirty="0">
                <a:sym typeface="+mn-ea"/>
              </a:rPr>
              <a:t> </a:t>
            </a:r>
            <a:r>
              <a:rPr lang="en-US" sz="2200" dirty="0" err="1">
                <a:sym typeface="+mn-ea"/>
              </a:rPr>
              <a:t>Manusia</a:t>
            </a:r>
            <a:r>
              <a:rPr lang="en-US" sz="2200" dirty="0">
                <a:sym typeface="+mn-ea"/>
              </a:rPr>
              <a:t> 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ym typeface="+mn-ea"/>
              </a:rPr>
              <a:t>4.Melaksanakan </a:t>
            </a:r>
            <a:r>
              <a:rPr lang="en-US" sz="2200" dirty="0" err="1">
                <a:sym typeface="+mn-ea"/>
              </a:rPr>
              <a:t>Pengelolaan</a:t>
            </a:r>
            <a:r>
              <a:rPr lang="en-US" sz="2200" dirty="0">
                <a:sym typeface="+mn-ea"/>
              </a:rPr>
              <a:t> </a:t>
            </a:r>
            <a:r>
              <a:rPr lang="en-US" sz="2200" dirty="0" err="1">
                <a:sym typeface="+mn-ea"/>
              </a:rPr>
              <a:t>Urusan</a:t>
            </a:r>
            <a:r>
              <a:rPr lang="en-US" sz="2200" dirty="0">
                <a:sym typeface="+mn-ea"/>
              </a:rPr>
              <a:t> </a:t>
            </a:r>
            <a:r>
              <a:rPr lang="en-US" sz="2200" dirty="0" err="1">
                <a:sym typeface="+mn-ea"/>
              </a:rPr>
              <a:t>Umum</a:t>
            </a:r>
            <a:r>
              <a:rPr lang="en-US" sz="2200" dirty="0">
                <a:sym typeface="+mn-ea"/>
              </a:rPr>
              <a:t> 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ym typeface="+mn-ea"/>
              </a:rPr>
              <a:t>5.Melaksanakan </a:t>
            </a:r>
            <a:r>
              <a:rPr lang="en-US" sz="2200" dirty="0" err="1">
                <a:sym typeface="+mn-ea"/>
              </a:rPr>
              <a:t>Pengelolaan</a:t>
            </a:r>
            <a:r>
              <a:rPr lang="en-US" sz="2200" dirty="0">
                <a:sym typeface="+mn-ea"/>
              </a:rPr>
              <a:t> </a:t>
            </a:r>
            <a:r>
              <a:rPr lang="en-US" sz="2200" dirty="0" err="1">
                <a:sym typeface="+mn-ea"/>
              </a:rPr>
              <a:t>Keuangan</a:t>
            </a:r>
            <a:r>
              <a:rPr lang="en-US" sz="2200" dirty="0">
                <a:sym typeface="+mn-ea"/>
              </a:rPr>
              <a:t> 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ym typeface="+mn-ea"/>
              </a:rPr>
              <a:t>6.Melaksanakan </a:t>
            </a:r>
            <a:r>
              <a:rPr lang="en-US" sz="2200" dirty="0" err="1">
                <a:sym typeface="+mn-ea"/>
              </a:rPr>
              <a:t>Pengelolaan</a:t>
            </a:r>
            <a:r>
              <a:rPr lang="en-US" sz="2200" dirty="0">
                <a:sym typeface="+mn-ea"/>
              </a:rPr>
              <a:t> </a:t>
            </a:r>
            <a:r>
              <a:rPr lang="en-US" sz="2200" dirty="0" err="1">
                <a:sym typeface="+mn-ea"/>
              </a:rPr>
              <a:t>Pemasaran</a:t>
            </a:r>
            <a:r>
              <a:rPr lang="en-US" sz="2200" dirty="0">
                <a:sym typeface="+mn-ea"/>
              </a:rPr>
              <a:t> 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ym typeface="+mn-ea"/>
              </a:rPr>
              <a:t>7.Melaksanakan </a:t>
            </a:r>
            <a:r>
              <a:rPr lang="en-US" sz="2200" dirty="0" err="1">
                <a:sym typeface="+mn-ea"/>
              </a:rPr>
              <a:t>Pengelolaan</a:t>
            </a:r>
            <a:r>
              <a:rPr lang="en-US" sz="2200" dirty="0">
                <a:sym typeface="+mn-ea"/>
              </a:rPr>
              <a:t> </a:t>
            </a:r>
            <a:r>
              <a:rPr lang="en-US" sz="2200" dirty="0" err="1">
                <a:sym typeface="+mn-ea"/>
              </a:rPr>
              <a:t>Keamanan</a:t>
            </a:r>
            <a:r>
              <a:rPr lang="en-US" sz="2200" dirty="0">
                <a:sym typeface="+mn-ea"/>
              </a:rPr>
              <a:t> 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ym typeface="+mn-ea"/>
              </a:rPr>
              <a:t>8.Melaksankan </a:t>
            </a:r>
            <a:r>
              <a:rPr lang="en-US" sz="2200" dirty="0" err="1">
                <a:sym typeface="+mn-ea"/>
              </a:rPr>
              <a:t>Pengelolaan</a:t>
            </a:r>
            <a:r>
              <a:rPr lang="en-US" sz="2200" dirty="0">
                <a:sym typeface="+mn-ea"/>
              </a:rPr>
              <a:t> </a:t>
            </a:r>
            <a:r>
              <a:rPr lang="en-US" sz="2200" dirty="0" err="1">
                <a:sym typeface="+mn-ea"/>
              </a:rPr>
              <a:t>Pengoperasian</a:t>
            </a:r>
            <a:r>
              <a:rPr lang="en-US" sz="2200" dirty="0">
                <a:sym typeface="+mn-ea"/>
              </a:rPr>
              <a:t> 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ym typeface="+mn-ea"/>
              </a:rPr>
              <a:t>9.Melaksanakan </a:t>
            </a:r>
            <a:r>
              <a:rPr lang="en-US" sz="2200" dirty="0" err="1">
                <a:sym typeface="+mn-ea"/>
              </a:rPr>
              <a:t>Pengelolaan</a:t>
            </a:r>
            <a:r>
              <a:rPr lang="en-US" sz="2200" dirty="0">
                <a:sym typeface="+mn-ea"/>
              </a:rPr>
              <a:t> </a:t>
            </a:r>
            <a:r>
              <a:rPr lang="en-US" sz="2200" dirty="0" err="1">
                <a:sym typeface="+mn-ea"/>
              </a:rPr>
              <a:t>Pemeliharaan</a:t>
            </a:r>
            <a:r>
              <a:rPr lang="en-US" sz="2200" dirty="0">
                <a:sym typeface="+mn-ea"/>
              </a:rPr>
              <a:t> 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ym typeface="+mn-ea"/>
              </a:rPr>
              <a:t>10.Melaksanakan </a:t>
            </a:r>
            <a:r>
              <a:rPr lang="en-US" sz="2200" dirty="0" err="1">
                <a:sym typeface="+mn-ea"/>
              </a:rPr>
              <a:t>Pengelolaan</a:t>
            </a:r>
            <a:r>
              <a:rPr lang="en-US" sz="2200" dirty="0">
                <a:sym typeface="+mn-ea"/>
              </a:rPr>
              <a:t> </a:t>
            </a:r>
            <a:r>
              <a:rPr lang="en-US" sz="2200" dirty="0" err="1">
                <a:sym typeface="+mn-ea"/>
              </a:rPr>
              <a:t>Perawatan</a:t>
            </a:r>
            <a:r>
              <a:rPr lang="en-US" sz="2200" dirty="0">
                <a:sym typeface="+mn-ea"/>
              </a:rPr>
              <a:t> 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ym typeface="+mn-ea"/>
              </a:rPr>
              <a:t>11.Membuat </a:t>
            </a:r>
            <a:r>
              <a:rPr lang="en-US" sz="2200" dirty="0" err="1">
                <a:sym typeface="+mn-ea"/>
              </a:rPr>
              <a:t>Laporan</a:t>
            </a:r>
            <a:r>
              <a:rPr lang="en-US" sz="2200" dirty="0">
                <a:sym typeface="+mn-ea"/>
              </a:rPr>
              <a:t> </a:t>
            </a:r>
            <a:r>
              <a:rPr lang="en-US" sz="2200" dirty="0" err="1">
                <a:sym typeface="+mn-ea"/>
              </a:rPr>
              <a:t>Pengelolaan</a:t>
            </a:r>
            <a:r>
              <a:rPr lang="en-US" sz="2200" dirty="0">
                <a:sym typeface="+mn-ea"/>
              </a:rPr>
              <a:t> </a:t>
            </a:r>
            <a:r>
              <a:rPr lang="en-US" sz="2200" dirty="0" err="1">
                <a:sym typeface="+mn-ea"/>
              </a:rPr>
              <a:t>Bangunan</a:t>
            </a:r>
            <a:r>
              <a:rPr lang="en-US" sz="2200" dirty="0">
                <a:sym typeface="+mn-ea"/>
              </a:rPr>
              <a:t> Gedung</a:t>
            </a:r>
            <a:endParaRPr lang="en-SG" altLang="en-US" sz="2200" dirty="0">
              <a:solidFill>
                <a:srgbClr val="0070C0"/>
              </a:solidFill>
            </a:endParaRP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2210448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550811-80D3-4BFD-91F4-27FD6DA660FA}"/>
              </a:ext>
            </a:extLst>
          </p:cNvPr>
          <p:cNvSpPr txBox="1"/>
          <p:nvPr/>
        </p:nvSpPr>
        <p:spPr>
          <a:xfrm>
            <a:off x="533400" y="304800"/>
            <a:ext cx="8001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ym typeface="+mn-ea"/>
              </a:rPr>
              <a:t>KEPUTUSAN DIREKTUR JENDERAL BINA KONSTRUKSI</a:t>
            </a:r>
            <a:r>
              <a:rPr lang="en-SG" altLang="en-US" sz="1800" b="1" dirty="0">
                <a:sym typeface="+mn-ea"/>
              </a:rPr>
              <a:t> </a:t>
            </a:r>
            <a:r>
              <a:rPr lang="en-US" sz="1800" b="1" dirty="0">
                <a:sym typeface="+mn-ea"/>
              </a:rPr>
              <a:t>NOMOR </a:t>
            </a:r>
            <a:r>
              <a:rPr lang="en-SG" altLang="en-US" sz="1800" b="1" dirty="0">
                <a:sym typeface="+mn-ea"/>
              </a:rPr>
              <a:t>33 </a:t>
            </a:r>
            <a:r>
              <a:rPr lang="en-SG" altLang="en-US" sz="1800" b="1" dirty="0" err="1">
                <a:sym typeface="+mn-ea"/>
              </a:rPr>
              <a:t>th</a:t>
            </a:r>
            <a:r>
              <a:rPr lang="en-SG" altLang="en-US" sz="1800" b="1" dirty="0">
                <a:sym typeface="+mn-ea"/>
              </a:rPr>
              <a:t> 2</a:t>
            </a:r>
            <a:r>
              <a:rPr lang="en-US" sz="1800" b="1" dirty="0">
                <a:sym typeface="+mn-ea"/>
              </a:rPr>
              <a:t>02</a:t>
            </a:r>
            <a:r>
              <a:rPr lang="en-SG" altLang="en-US" sz="1800" b="1" dirty="0">
                <a:sym typeface="+mn-ea"/>
              </a:rPr>
              <a:t>3</a:t>
            </a:r>
            <a:endParaRPr lang="en-US" sz="1800" b="1" dirty="0">
              <a:sym typeface="+mn-ea"/>
            </a:endParaRPr>
          </a:p>
          <a:p>
            <a:pPr algn="ctr"/>
            <a:r>
              <a:rPr lang="en-SG" altLang="en-US" sz="1800" b="1" dirty="0">
                <a:sym typeface="+mn-ea"/>
              </a:rPr>
              <a:t>TENTANG </a:t>
            </a:r>
            <a:endParaRPr lang="en-US" sz="1800" b="1" dirty="0"/>
          </a:p>
          <a:p>
            <a:pPr algn="ctr"/>
            <a:r>
              <a:rPr lang="en-US" sz="1800" b="1" dirty="0">
                <a:sym typeface="+mn-ea"/>
              </a:rPr>
              <a:t>PENETAPAN JABATAN KERJA DAN KONVERSI JABATAN KERJA EKSISTING SERTA JENJANG KUALIFIKASI BIDANG JASA KONSTRUKSI</a:t>
            </a:r>
            <a:r>
              <a:rPr lang="en-SG" altLang="en-US" sz="1800" b="1" dirty="0">
                <a:sym typeface="+mn-ea"/>
              </a:rPr>
              <a:t> </a:t>
            </a:r>
            <a:endParaRPr lang="en-SG" altLang="en-US" sz="1800" b="1" dirty="0">
              <a:solidFill>
                <a:srgbClr val="0070C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524143-4FA5-4857-9093-86BAA0D5CF79}"/>
              </a:ext>
            </a:extLst>
          </p:cNvPr>
          <p:cNvSpPr txBox="1"/>
          <p:nvPr/>
        </p:nvSpPr>
        <p:spPr>
          <a:xfrm>
            <a:off x="990600" y="1828800"/>
            <a:ext cx="7391400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altLang="en-US" b="1" dirty="0" err="1">
                <a:sym typeface="+mn-ea"/>
              </a:rPr>
              <a:t>Latar</a:t>
            </a:r>
            <a:r>
              <a:rPr lang="en-SG" altLang="en-US" b="1" dirty="0">
                <a:sym typeface="+mn-ea"/>
              </a:rPr>
              <a:t> </a:t>
            </a:r>
            <a:r>
              <a:rPr lang="en-SG" altLang="en-US" b="1" dirty="0" err="1">
                <a:sym typeface="+mn-ea"/>
              </a:rPr>
              <a:t>Belakang</a:t>
            </a:r>
            <a:r>
              <a:rPr lang="en-SG" altLang="en-US" b="1" dirty="0">
                <a:sym typeface="+mn-ea"/>
              </a:rPr>
              <a:t> Pendidikan </a:t>
            </a:r>
            <a:r>
              <a:rPr lang="en-SG" altLang="en-US" b="1" dirty="0" err="1">
                <a:sym typeface="+mn-ea"/>
              </a:rPr>
              <a:t>untuk</a:t>
            </a:r>
            <a:r>
              <a:rPr lang="en-SG" altLang="en-US" b="1" dirty="0">
                <a:sym typeface="+mn-ea"/>
              </a:rPr>
              <a:t> “</a:t>
            </a:r>
            <a:r>
              <a:rPr lang="en-SG" altLang="en-US" b="1" dirty="0" err="1">
                <a:sym typeface="+mn-ea"/>
              </a:rPr>
              <a:t>Manajer</a:t>
            </a:r>
            <a:r>
              <a:rPr lang="en-SG" altLang="en-US" b="1" dirty="0">
                <a:sym typeface="+mn-ea"/>
              </a:rPr>
              <a:t> </a:t>
            </a:r>
            <a:r>
              <a:rPr lang="en-SG" altLang="en-US" b="1" dirty="0" err="1">
                <a:sym typeface="+mn-ea"/>
              </a:rPr>
              <a:t>Pengelolaan</a:t>
            </a:r>
            <a:r>
              <a:rPr lang="en-SG" altLang="en-US" b="1" dirty="0">
                <a:sym typeface="+mn-ea"/>
              </a:rPr>
              <a:t> </a:t>
            </a:r>
            <a:r>
              <a:rPr lang="en-SG" altLang="en-US" b="1" dirty="0" err="1">
                <a:sym typeface="+mn-ea"/>
              </a:rPr>
              <a:t>Bangunan</a:t>
            </a:r>
            <a:r>
              <a:rPr lang="en-SG" altLang="en-US" b="1" dirty="0">
                <a:sym typeface="+mn-ea"/>
              </a:rPr>
              <a:t> Gedung” </a:t>
            </a:r>
            <a:r>
              <a:rPr lang="en-SG" altLang="en-US" b="1" dirty="0" err="1">
                <a:sym typeface="+mn-ea"/>
              </a:rPr>
              <a:t>adalah</a:t>
            </a:r>
            <a:r>
              <a:rPr lang="en-SG" altLang="en-US" b="1" dirty="0">
                <a:sym typeface="+mn-ea"/>
              </a:rPr>
              <a:t> </a:t>
            </a:r>
            <a:r>
              <a:rPr lang="en-SG" altLang="en-US" b="1" dirty="0" err="1">
                <a:sym typeface="+mn-ea"/>
              </a:rPr>
              <a:t>sebagai</a:t>
            </a:r>
            <a:r>
              <a:rPr lang="en-SG" altLang="en-US" b="1" dirty="0">
                <a:sym typeface="+mn-ea"/>
              </a:rPr>
              <a:t> </a:t>
            </a:r>
            <a:r>
              <a:rPr lang="en-SG" altLang="en-US" b="1" dirty="0" err="1">
                <a:sym typeface="+mn-ea"/>
              </a:rPr>
              <a:t>berikut</a:t>
            </a:r>
            <a:endParaRPr lang="en-SG" altLang="en-US" dirty="0">
              <a:solidFill>
                <a:srgbClr val="0070C0"/>
              </a:solidFill>
            </a:endParaRPr>
          </a:p>
          <a:p>
            <a:endParaRPr lang="en-SG" altLang="en-US" sz="1600" dirty="0">
              <a:solidFill>
                <a:srgbClr val="0070C0"/>
              </a:solidFill>
            </a:endParaRPr>
          </a:p>
          <a:p>
            <a:pPr algn="ctr"/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Seluruh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Jurusan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/Program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Studi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Bidang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Konstruksi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meliputi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 </a:t>
            </a:r>
          </a:p>
          <a:p>
            <a:pPr algn="ctr"/>
            <a:endParaRPr lang="en-SG" altLang="en-US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a. Diploma IV dan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Sarjana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Teknik (Teknik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Sipil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Teknik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Geologi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Teknik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Pertambangan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Teknik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Kelautan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Teknik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Pengairan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</a:p>
          <a:p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Arsitektur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/Teknik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Arsitektur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Desain Interior, Desain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Produk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Arsitek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Lanskap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Perencanaan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Wilayah dan Kota,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Planologi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Teknik,Mesin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Teknik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Elektro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Teknik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Fisika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Teknik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Lingkungan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Teknik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Penyehatan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Teknik Kimia, Teknik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Industri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Teknik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Geodesi,Teknik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Geomatika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),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Komputasi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Konstruksi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Manajemen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Konstruksi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Teknik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Metalurgi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Teknik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Metalurgi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Dan Material.</a:t>
            </a:r>
          </a:p>
          <a:p>
            <a:endParaRPr lang="en-SG" altLang="en-US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b.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Sarjana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Pendidikan Teknik (Teknik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Sipil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/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Bangunan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Teknik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Mesin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Pendidikan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Arsitektur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/Teknik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Arsitektur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&amp; Teknik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Elektro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67737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8397EC-2483-4C27-8766-7BF65AB11025}"/>
              </a:ext>
            </a:extLst>
          </p:cNvPr>
          <p:cNvSpPr txBox="1"/>
          <p:nvPr/>
        </p:nvSpPr>
        <p:spPr>
          <a:xfrm>
            <a:off x="838200" y="381000"/>
            <a:ext cx="7543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altLang="en-US" sz="2400" b="1" u="sng" dirty="0">
                <a:sym typeface="+mn-ea"/>
              </a:rPr>
              <a:t>PEMECAHAN MASALAH</a:t>
            </a:r>
            <a:endParaRPr lang="en-ID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63E8EC-4439-414F-ACBA-4A5B1B80FBF2}"/>
              </a:ext>
            </a:extLst>
          </p:cNvPr>
          <p:cNvSpPr txBox="1"/>
          <p:nvPr/>
        </p:nvSpPr>
        <p:spPr>
          <a:xfrm>
            <a:off x="845234" y="1676400"/>
            <a:ext cx="77724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SG" altLang="en-US" sz="2000" dirty="0" err="1">
                <a:sym typeface="+mn-ea"/>
              </a:rPr>
              <a:t>Payung</a:t>
            </a:r>
            <a:r>
              <a:rPr lang="en-SG" altLang="en-US" sz="2000" dirty="0">
                <a:sym typeface="+mn-ea"/>
              </a:rPr>
              <a:t> </a:t>
            </a:r>
            <a:r>
              <a:rPr lang="en-SG" altLang="en-US" sz="2000" dirty="0" err="1">
                <a:sym typeface="+mn-ea"/>
              </a:rPr>
              <a:t>hukum</a:t>
            </a:r>
            <a:r>
              <a:rPr lang="en-SG" altLang="en-US" sz="2000" dirty="0">
                <a:sym typeface="+mn-ea"/>
              </a:rPr>
              <a:t> </a:t>
            </a:r>
            <a:r>
              <a:rPr lang="en-SG" altLang="en-US" sz="2000" dirty="0" err="1">
                <a:sym typeface="+mn-ea"/>
              </a:rPr>
              <a:t>untuk</a:t>
            </a:r>
            <a:r>
              <a:rPr lang="en-SG" altLang="en-US" sz="2000" dirty="0">
                <a:sym typeface="+mn-ea"/>
              </a:rPr>
              <a:t> </a:t>
            </a:r>
            <a:r>
              <a:rPr lang="en-SG" altLang="en-US" sz="2000" dirty="0" err="1">
                <a:sym typeface="+mn-ea"/>
              </a:rPr>
              <a:t>mengantisipasi</a:t>
            </a:r>
            <a:r>
              <a:rPr lang="en-SG" altLang="en-US" sz="2000" dirty="0">
                <a:sym typeface="+mn-ea"/>
              </a:rPr>
              <a:t> </a:t>
            </a:r>
            <a:r>
              <a:rPr lang="en-SG" altLang="en-US" sz="2000" dirty="0" err="1">
                <a:sym typeface="+mn-ea"/>
              </a:rPr>
              <a:t>perubahan</a:t>
            </a:r>
            <a:r>
              <a:rPr lang="en-SG" altLang="en-US" sz="2000" dirty="0">
                <a:sym typeface="+mn-ea"/>
              </a:rPr>
              <a:t> zaman </a:t>
            </a:r>
            <a:r>
              <a:rPr lang="en-SG" altLang="en-US" sz="2000" dirty="0" err="1">
                <a:sym typeface="+mn-ea"/>
              </a:rPr>
              <a:t>sudah</a:t>
            </a:r>
            <a:r>
              <a:rPr lang="en-SG" altLang="en-US" sz="2000" dirty="0">
                <a:sym typeface="+mn-ea"/>
              </a:rPr>
              <a:t> </a:t>
            </a:r>
            <a:r>
              <a:rPr lang="en-SG" altLang="en-US" sz="2000" dirty="0" err="1">
                <a:sym typeface="+mn-ea"/>
              </a:rPr>
              <a:t>disiapkan</a:t>
            </a:r>
            <a:r>
              <a:rPr lang="en-SG" altLang="en-US" sz="2000" dirty="0">
                <a:sym typeface="+mn-ea"/>
              </a:rPr>
              <a:t>, </a:t>
            </a:r>
            <a:r>
              <a:rPr lang="en-SG" altLang="en-US" sz="2000" dirty="0" err="1">
                <a:sym typeface="+mn-ea"/>
              </a:rPr>
              <a:t>tinggal</a:t>
            </a:r>
            <a:r>
              <a:rPr lang="en-SG" altLang="en-US" sz="2000" dirty="0">
                <a:sym typeface="+mn-ea"/>
              </a:rPr>
              <a:t> </a:t>
            </a:r>
            <a:r>
              <a:rPr lang="en-SG" altLang="en-US" sz="2000" dirty="0" err="1">
                <a:sym typeface="+mn-ea"/>
              </a:rPr>
              <a:t>dilaksanakan</a:t>
            </a:r>
            <a:r>
              <a:rPr lang="en-SG" altLang="en-US" sz="2000" dirty="0">
                <a:sym typeface="+mn-ea"/>
              </a:rPr>
              <a:t> </a:t>
            </a:r>
            <a:r>
              <a:rPr lang="en-SG" altLang="en-US" sz="2000" dirty="0" err="1">
                <a:sym typeface="+mn-ea"/>
              </a:rPr>
              <a:t>dengan</a:t>
            </a:r>
            <a:r>
              <a:rPr lang="en-SG" altLang="en-US" sz="2000" dirty="0">
                <a:sym typeface="+mn-ea"/>
              </a:rPr>
              <a:t> </a:t>
            </a:r>
            <a:r>
              <a:rPr lang="en-SG" altLang="en-US" sz="2000" dirty="0" err="1">
                <a:sym typeface="+mn-ea"/>
              </a:rPr>
              <a:t>penuh</a:t>
            </a:r>
            <a:r>
              <a:rPr lang="en-SG" altLang="en-US" sz="2000" dirty="0">
                <a:sym typeface="+mn-ea"/>
              </a:rPr>
              <a:t> </a:t>
            </a:r>
            <a:r>
              <a:rPr lang="en-SG" altLang="en-US" sz="2000" dirty="0" err="1">
                <a:sym typeface="+mn-ea"/>
              </a:rPr>
              <a:t>tanggung</a:t>
            </a:r>
            <a:r>
              <a:rPr lang="en-SG" altLang="en-US" sz="2000" dirty="0">
                <a:sym typeface="+mn-ea"/>
              </a:rPr>
              <a:t> </a:t>
            </a:r>
            <a:r>
              <a:rPr lang="en-SG" altLang="en-US" sz="2000" dirty="0" err="1">
                <a:sym typeface="+mn-ea"/>
              </a:rPr>
              <a:t>jawab</a:t>
            </a:r>
            <a:r>
              <a:rPr lang="en-SG" altLang="en-US" sz="2000" dirty="0">
                <a:sym typeface="+mn-ea"/>
              </a:rPr>
              <a:t> oleh </a:t>
            </a:r>
            <a:r>
              <a:rPr lang="en-SG" altLang="en-US" sz="2000" dirty="0" err="1">
                <a:sym typeface="+mn-ea"/>
              </a:rPr>
              <a:t>segenap</a:t>
            </a:r>
            <a:r>
              <a:rPr lang="en-SG" altLang="en-US" sz="2000" dirty="0">
                <a:sym typeface="+mn-ea"/>
              </a:rPr>
              <a:t> </a:t>
            </a:r>
            <a:r>
              <a:rPr lang="en-SG" altLang="en-US" sz="2000" dirty="0" err="1">
                <a:sym typeface="+mn-ea"/>
              </a:rPr>
              <a:t>jajaran</a:t>
            </a:r>
            <a:r>
              <a:rPr lang="en-SG" altLang="en-US" sz="2000" dirty="0">
                <a:sym typeface="+mn-ea"/>
              </a:rPr>
              <a:t> </a:t>
            </a:r>
            <a:r>
              <a:rPr lang="en-SG" altLang="en-US" sz="2000" dirty="0" err="1">
                <a:sym typeface="+mn-ea"/>
              </a:rPr>
              <a:t>pemerintah</a:t>
            </a:r>
            <a:r>
              <a:rPr lang="en-SG" altLang="en-US" sz="2000" dirty="0">
                <a:sym typeface="+mn-ea"/>
              </a:rPr>
              <a:t> &amp; </a:t>
            </a:r>
            <a:r>
              <a:rPr lang="en-SG" altLang="en-US" sz="2000" dirty="0" err="1">
                <a:sym typeface="+mn-ea"/>
              </a:rPr>
              <a:t>masyarakat</a:t>
            </a:r>
            <a:r>
              <a:rPr lang="en-SG" altLang="en-US" sz="2000" dirty="0">
                <a:sym typeface="+mn-ea"/>
              </a:rPr>
              <a:t> pada </a:t>
            </a:r>
            <a:r>
              <a:rPr lang="en-SG" altLang="en-US" sz="2000" dirty="0" err="1">
                <a:sym typeface="+mn-ea"/>
              </a:rPr>
              <a:t>umumnya</a:t>
            </a:r>
            <a:r>
              <a:rPr lang="en-SG" altLang="en-US" sz="2000" dirty="0">
                <a:sym typeface="+mn-ea"/>
              </a:rPr>
              <a:t>. </a:t>
            </a:r>
            <a:r>
              <a:rPr lang="en-SG" altLang="en-US" sz="2000" dirty="0" err="1">
                <a:sym typeface="+mn-ea"/>
              </a:rPr>
              <a:t>Secara</a:t>
            </a:r>
            <a:r>
              <a:rPr lang="en-SG" altLang="en-US" sz="2000" dirty="0">
                <a:sym typeface="+mn-ea"/>
              </a:rPr>
              <a:t> garis </a:t>
            </a:r>
            <a:r>
              <a:rPr lang="en-SG" altLang="en-US" sz="2000" dirty="0" err="1">
                <a:sym typeface="+mn-ea"/>
              </a:rPr>
              <a:t>besar</a:t>
            </a:r>
            <a:r>
              <a:rPr lang="en-SG" altLang="en-US" sz="2000" dirty="0">
                <a:sym typeface="+mn-ea"/>
              </a:rPr>
              <a:t> </a:t>
            </a:r>
            <a:r>
              <a:rPr lang="en-SG" altLang="en-US" sz="2000" dirty="0" err="1">
                <a:sym typeface="+mn-ea"/>
              </a:rPr>
              <a:t>untuk</a:t>
            </a:r>
            <a:r>
              <a:rPr lang="en-SG" altLang="en-US" sz="2000" dirty="0">
                <a:sym typeface="+mn-ea"/>
              </a:rPr>
              <a:t> </a:t>
            </a:r>
            <a:r>
              <a:rPr lang="en-SG" altLang="en-US" sz="2000" dirty="0" err="1">
                <a:sym typeface="+mn-ea"/>
              </a:rPr>
              <a:t>menghadapi</a:t>
            </a:r>
            <a:r>
              <a:rPr lang="en-SG" altLang="en-US" sz="2000" dirty="0">
                <a:sym typeface="+mn-ea"/>
              </a:rPr>
              <a:t> </a:t>
            </a:r>
            <a:r>
              <a:rPr lang="en-SG" altLang="en-US" sz="2000" dirty="0" err="1">
                <a:sym typeface="+mn-ea"/>
              </a:rPr>
              <a:t>tantangan</a:t>
            </a:r>
            <a:r>
              <a:rPr lang="en-SG" altLang="en-US" sz="2000" dirty="0">
                <a:sym typeface="+mn-ea"/>
              </a:rPr>
              <a:t> </a:t>
            </a:r>
            <a:r>
              <a:rPr lang="en-SG" altLang="en-US" sz="2000" dirty="0" err="1">
                <a:sym typeface="+mn-ea"/>
              </a:rPr>
              <a:t>ke</a:t>
            </a:r>
            <a:r>
              <a:rPr lang="en-SG" altLang="en-US" sz="2000" dirty="0">
                <a:sym typeface="+mn-ea"/>
              </a:rPr>
              <a:t> </a:t>
            </a:r>
            <a:r>
              <a:rPr lang="en-SG" altLang="en-US" sz="2000" dirty="0" err="1">
                <a:sym typeface="+mn-ea"/>
              </a:rPr>
              <a:t>depan</a:t>
            </a:r>
            <a:r>
              <a:rPr lang="en-SG" altLang="en-US" sz="2000" dirty="0">
                <a:sym typeface="+mn-ea"/>
              </a:rPr>
              <a:t> </a:t>
            </a:r>
            <a:r>
              <a:rPr lang="en-SG" altLang="en-US" sz="2000" dirty="0" err="1">
                <a:sym typeface="+mn-ea"/>
              </a:rPr>
              <a:t>maka</a:t>
            </a:r>
            <a:r>
              <a:rPr lang="en-SG" altLang="en-US" sz="2000" dirty="0">
                <a:sym typeface="+mn-ea"/>
              </a:rPr>
              <a:t> </a:t>
            </a:r>
            <a:r>
              <a:rPr lang="en-SG" altLang="en-US" sz="2000" dirty="0" err="1">
                <a:sym typeface="+mn-ea"/>
              </a:rPr>
              <a:t>gedung</a:t>
            </a:r>
            <a:r>
              <a:rPr lang="en-SG" altLang="en-US" sz="2000" dirty="0">
                <a:sym typeface="+mn-ea"/>
              </a:rPr>
              <a:t> </a:t>
            </a:r>
            <a:r>
              <a:rPr lang="en-SG" altLang="en-US" sz="2000" dirty="0" err="1">
                <a:sym typeface="+mn-ea"/>
              </a:rPr>
              <a:t>gedung</a:t>
            </a:r>
            <a:r>
              <a:rPr lang="en-SG" altLang="en-US" sz="2000" dirty="0">
                <a:sym typeface="+mn-ea"/>
              </a:rPr>
              <a:t> di DKI </a:t>
            </a:r>
            <a:r>
              <a:rPr lang="en-SG" altLang="en-US" sz="2000" dirty="0" err="1">
                <a:sym typeface="+mn-ea"/>
              </a:rPr>
              <a:t>perlu</a:t>
            </a:r>
            <a:r>
              <a:rPr lang="en-SG" altLang="en-US" sz="2000" dirty="0">
                <a:sym typeface="+mn-ea"/>
              </a:rPr>
              <a:t> </a:t>
            </a:r>
            <a:r>
              <a:rPr lang="en-SG" altLang="en-US" sz="2000" dirty="0" err="1">
                <a:sym typeface="+mn-ea"/>
              </a:rPr>
              <a:t>mengadakan</a:t>
            </a:r>
            <a:r>
              <a:rPr lang="en-SG" altLang="en-US" sz="2000" dirty="0">
                <a:sym typeface="+mn-ea"/>
              </a:rPr>
              <a:t> </a:t>
            </a:r>
            <a:r>
              <a:rPr lang="en-SG" altLang="en-US" sz="2000" dirty="0" err="1">
                <a:sym typeface="+mn-ea"/>
              </a:rPr>
              <a:t>untuk</a:t>
            </a:r>
            <a:r>
              <a:rPr lang="en-SG" altLang="en-US" sz="2000" dirty="0">
                <a:sym typeface="+mn-ea"/>
              </a:rPr>
              <a:t> :</a:t>
            </a:r>
            <a:endParaRPr lang="en-SG" altLang="en-US" sz="2000" dirty="0"/>
          </a:p>
          <a:p>
            <a:pPr marL="0" indent="0" algn="just">
              <a:buNone/>
            </a:pPr>
            <a:r>
              <a:rPr lang="en-SG" altLang="en-US" sz="2000" dirty="0">
                <a:sym typeface="+mn-ea"/>
              </a:rPr>
              <a:t>1.Re-evaluasi/re-thinking </a:t>
            </a:r>
            <a:r>
              <a:rPr lang="en-SG" altLang="en-US" sz="2000" dirty="0" err="1">
                <a:sym typeface="+mn-ea"/>
              </a:rPr>
              <a:t>terhadap</a:t>
            </a:r>
            <a:r>
              <a:rPr lang="en-SG" altLang="en-US" sz="2000" dirty="0">
                <a:sym typeface="+mn-ea"/>
              </a:rPr>
              <a:t>:  </a:t>
            </a:r>
            <a:r>
              <a:rPr lang="en-SG" altLang="en-US" sz="2000" dirty="0" err="1">
                <a:sym typeface="+mn-ea"/>
              </a:rPr>
              <a:t>penggunaan</a:t>
            </a:r>
            <a:r>
              <a:rPr lang="en-SG" altLang="en-US" sz="2000" dirty="0">
                <a:sym typeface="+mn-ea"/>
              </a:rPr>
              <a:t> </a:t>
            </a:r>
            <a:r>
              <a:rPr lang="en-SG" altLang="en-US" sz="2000" dirty="0" err="1">
                <a:sym typeface="+mn-ea"/>
              </a:rPr>
              <a:t>matrial,energi</a:t>
            </a:r>
            <a:r>
              <a:rPr lang="en-SG" altLang="en-US" sz="2000" dirty="0">
                <a:sym typeface="+mn-ea"/>
              </a:rPr>
              <a:t>, </a:t>
            </a:r>
            <a:r>
              <a:rPr lang="en-SG" altLang="en-US" sz="2000" dirty="0" err="1">
                <a:sym typeface="+mn-ea"/>
              </a:rPr>
              <a:t>fungsi</a:t>
            </a:r>
            <a:r>
              <a:rPr lang="en-SG" altLang="en-US" sz="2000" dirty="0">
                <a:sym typeface="+mn-ea"/>
              </a:rPr>
              <a:t> tata </a:t>
            </a:r>
            <a:r>
              <a:rPr lang="en-SG" altLang="en-US" sz="2000" dirty="0" err="1">
                <a:sym typeface="+mn-ea"/>
              </a:rPr>
              <a:t>ruang</a:t>
            </a:r>
            <a:r>
              <a:rPr lang="en-SG" altLang="en-US" sz="2000" dirty="0">
                <a:sym typeface="+mn-ea"/>
              </a:rPr>
              <a:t> yang </a:t>
            </a:r>
            <a:r>
              <a:rPr lang="en-SG" altLang="en-US" sz="2000" dirty="0" err="1">
                <a:sym typeface="+mn-ea"/>
              </a:rPr>
              <a:t>lebih</a:t>
            </a:r>
            <a:r>
              <a:rPr lang="en-SG" altLang="en-US" sz="2000" dirty="0">
                <a:sym typeface="+mn-ea"/>
              </a:rPr>
              <a:t> </a:t>
            </a:r>
            <a:r>
              <a:rPr lang="en-SG" altLang="en-US" sz="2000" dirty="0" err="1">
                <a:sym typeface="+mn-ea"/>
              </a:rPr>
              <a:t>efisien</a:t>
            </a:r>
            <a:r>
              <a:rPr lang="en-SG" altLang="en-US" sz="2000" dirty="0">
                <a:sym typeface="+mn-ea"/>
              </a:rPr>
              <a:t>  dan </a:t>
            </a:r>
            <a:r>
              <a:rPr lang="en-SG" altLang="en-US" sz="2000" dirty="0" err="1">
                <a:sym typeface="+mn-ea"/>
              </a:rPr>
              <a:t>pengelolaan</a:t>
            </a:r>
            <a:r>
              <a:rPr lang="en-SG" altLang="en-US" sz="2000" dirty="0">
                <a:sym typeface="+mn-ea"/>
              </a:rPr>
              <a:t> </a:t>
            </a:r>
            <a:r>
              <a:rPr lang="en-SG" altLang="en-US" sz="2000" dirty="0" err="1">
                <a:sym typeface="+mn-ea"/>
              </a:rPr>
              <a:t>lingkungan</a:t>
            </a:r>
            <a:r>
              <a:rPr lang="en-SG" altLang="en-US" sz="2000" dirty="0">
                <a:sym typeface="+mn-ea"/>
              </a:rPr>
              <a:t> </a:t>
            </a:r>
            <a:endParaRPr lang="en-SG" altLang="en-US" sz="2000" dirty="0"/>
          </a:p>
          <a:p>
            <a:pPr marL="0" indent="0" algn="just">
              <a:buNone/>
            </a:pPr>
            <a:r>
              <a:rPr lang="en-SG" altLang="en-US" sz="2000" dirty="0">
                <a:sym typeface="+mn-ea"/>
              </a:rPr>
              <a:t>2.Melengkapi </a:t>
            </a:r>
            <a:r>
              <a:rPr lang="en-SG" altLang="en-US" sz="2000" dirty="0" err="1">
                <a:sym typeface="+mn-ea"/>
              </a:rPr>
              <a:t>kekurangan</a:t>
            </a:r>
            <a:r>
              <a:rPr lang="en-SG" altLang="en-US" sz="2000" dirty="0">
                <a:sym typeface="+mn-ea"/>
              </a:rPr>
              <a:t> </a:t>
            </a:r>
            <a:r>
              <a:rPr lang="en-SG" altLang="en-US" sz="2000" dirty="0" err="1">
                <a:sym typeface="+mn-ea"/>
              </a:rPr>
              <a:t>dokumen</a:t>
            </a:r>
            <a:r>
              <a:rPr lang="en-SG" altLang="en-US" sz="2000" dirty="0">
                <a:sym typeface="+mn-ea"/>
              </a:rPr>
              <a:t> </a:t>
            </a:r>
            <a:r>
              <a:rPr lang="en-SG" altLang="en-US" sz="2000" dirty="0" err="1">
                <a:sym typeface="+mn-ea"/>
              </a:rPr>
              <a:t>yg</a:t>
            </a:r>
            <a:r>
              <a:rPr lang="en-SG" altLang="en-US" sz="2000" dirty="0">
                <a:sym typeface="+mn-ea"/>
              </a:rPr>
              <a:t> </a:t>
            </a:r>
            <a:r>
              <a:rPr lang="en-SG" altLang="en-US" sz="2000" dirty="0" err="1">
                <a:sym typeface="+mn-ea"/>
              </a:rPr>
              <a:t>berhubungan</a:t>
            </a:r>
            <a:r>
              <a:rPr lang="en-SG" altLang="en-US" sz="2000" dirty="0">
                <a:sym typeface="+mn-ea"/>
              </a:rPr>
              <a:t> </a:t>
            </a:r>
            <a:r>
              <a:rPr lang="en-SG" altLang="en-US" sz="2000" dirty="0" err="1">
                <a:sym typeface="+mn-ea"/>
              </a:rPr>
              <a:t>dengan</a:t>
            </a:r>
            <a:r>
              <a:rPr lang="en-SG" altLang="en-US" sz="2000" dirty="0">
                <a:sym typeface="+mn-ea"/>
              </a:rPr>
              <a:t> </a:t>
            </a:r>
            <a:r>
              <a:rPr lang="en-SG" altLang="en-US" sz="2000" dirty="0" err="1">
                <a:sym typeface="+mn-ea"/>
              </a:rPr>
              <a:t>gedung</a:t>
            </a:r>
            <a:r>
              <a:rPr lang="en-SG" altLang="en-US" sz="2000" dirty="0">
                <a:sym typeface="+mn-ea"/>
              </a:rPr>
              <a:t> dan </a:t>
            </a:r>
            <a:r>
              <a:rPr lang="en-SG" altLang="en-US" sz="2000" dirty="0" err="1">
                <a:sym typeface="+mn-ea"/>
              </a:rPr>
              <a:t>lingkungan</a:t>
            </a:r>
            <a:endParaRPr lang="en-SG" altLang="en-US" sz="2000" dirty="0"/>
          </a:p>
          <a:p>
            <a:pPr marL="0" indent="0" algn="just">
              <a:buNone/>
            </a:pPr>
            <a:r>
              <a:rPr lang="en-SG" altLang="en-US" sz="2000" dirty="0">
                <a:sym typeface="+mn-ea"/>
              </a:rPr>
              <a:t>3.Meningkatkan </a:t>
            </a:r>
            <a:r>
              <a:rPr lang="en-SG" altLang="en-US" sz="2000" dirty="0" err="1">
                <a:sym typeface="+mn-ea"/>
              </a:rPr>
              <a:t>ketrampilan</a:t>
            </a:r>
            <a:r>
              <a:rPr lang="en-SG" altLang="en-US" sz="2000" dirty="0">
                <a:sym typeface="+mn-ea"/>
              </a:rPr>
              <a:t> &amp; </a:t>
            </a:r>
            <a:r>
              <a:rPr lang="en-SG" altLang="en-US" sz="2000" dirty="0" err="1">
                <a:sym typeface="+mn-ea"/>
              </a:rPr>
              <a:t>pengetahuan</a:t>
            </a:r>
            <a:r>
              <a:rPr lang="en-SG" altLang="en-US" sz="2000" dirty="0">
                <a:sym typeface="+mn-ea"/>
              </a:rPr>
              <a:t> SDM </a:t>
            </a:r>
            <a:r>
              <a:rPr lang="en-SG" altLang="en-US" sz="2000" dirty="0" err="1">
                <a:sym typeface="+mn-ea"/>
              </a:rPr>
              <a:t>dengan</a:t>
            </a:r>
            <a:r>
              <a:rPr lang="en-SG" altLang="en-US" sz="2000" dirty="0">
                <a:sym typeface="+mn-ea"/>
              </a:rPr>
              <a:t> </a:t>
            </a:r>
            <a:r>
              <a:rPr lang="en-SG" altLang="en-US" sz="2000" dirty="0" err="1">
                <a:sym typeface="+mn-ea"/>
              </a:rPr>
              <a:t>pelatihan</a:t>
            </a:r>
            <a:r>
              <a:rPr lang="en-SG" altLang="en-US" sz="2000" dirty="0">
                <a:sym typeface="+mn-ea"/>
              </a:rPr>
              <a:t> </a:t>
            </a:r>
            <a:r>
              <a:rPr lang="en-SG" altLang="en-US" sz="2000" dirty="0" err="1">
                <a:sym typeface="+mn-ea"/>
              </a:rPr>
              <a:t>terhadap</a:t>
            </a:r>
            <a:r>
              <a:rPr lang="en-SG" altLang="en-US" sz="2000" dirty="0">
                <a:sym typeface="+mn-ea"/>
              </a:rPr>
              <a:t> </a:t>
            </a:r>
            <a:r>
              <a:rPr lang="en-SG" altLang="en-US" sz="2000" dirty="0" err="1">
                <a:sym typeface="+mn-ea"/>
              </a:rPr>
              <a:t>tenaga</a:t>
            </a:r>
            <a:r>
              <a:rPr lang="en-SG" altLang="en-US" sz="2000" dirty="0">
                <a:sym typeface="+mn-ea"/>
              </a:rPr>
              <a:t> </a:t>
            </a:r>
            <a:r>
              <a:rPr lang="en-SG" altLang="en-US" sz="2000" dirty="0" err="1">
                <a:sym typeface="+mn-ea"/>
              </a:rPr>
              <a:t>kerja</a:t>
            </a:r>
            <a:r>
              <a:rPr lang="en-SG" altLang="en-US" sz="2000" dirty="0">
                <a:sym typeface="+mn-ea"/>
              </a:rPr>
              <a:t> yang </a:t>
            </a:r>
            <a:r>
              <a:rPr lang="en-SG" altLang="en-US" sz="2000" dirty="0" err="1">
                <a:sym typeface="+mn-ea"/>
              </a:rPr>
              <a:t>ada</a:t>
            </a:r>
            <a:r>
              <a:rPr lang="en-SG" altLang="en-US" sz="2000" dirty="0">
                <a:sym typeface="+mn-ea"/>
              </a:rPr>
              <a:t> </a:t>
            </a:r>
            <a:r>
              <a:rPr lang="en-SG" altLang="en-US" sz="2000" dirty="0" err="1">
                <a:sym typeface="+mn-ea"/>
              </a:rPr>
              <a:t>maupun</a:t>
            </a:r>
            <a:r>
              <a:rPr lang="en-SG" altLang="en-US" sz="2000" dirty="0">
                <a:sym typeface="+mn-ea"/>
              </a:rPr>
              <a:t> yang fresh graduate agar </a:t>
            </a:r>
            <a:r>
              <a:rPr lang="en-SG" altLang="en-US" sz="2000" dirty="0" err="1">
                <a:sym typeface="+mn-ea"/>
              </a:rPr>
              <a:t>gedung</a:t>
            </a:r>
            <a:r>
              <a:rPr lang="en-SG" altLang="en-US" sz="2000" dirty="0">
                <a:sym typeface="+mn-ea"/>
              </a:rPr>
              <a:t> </a:t>
            </a:r>
            <a:r>
              <a:rPr lang="en-SG" altLang="en-US" sz="2000" dirty="0" err="1">
                <a:sym typeface="+mn-ea"/>
              </a:rPr>
              <a:t>berfungsi</a:t>
            </a:r>
            <a:r>
              <a:rPr lang="en-SG" altLang="en-US" sz="2000" dirty="0">
                <a:sym typeface="+mn-ea"/>
              </a:rPr>
              <a:t> </a:t>
            </a:r>
            <a:r>
              <a:rPr lang="en-SG" altLang="en-US" sz="2000" dirty="0" err="1">
                <a:sym typeface="+mn-ea"/>
              </a:rPr>
              <a:t>maksimal,efisien</a:t>
            </a:r>
            <a:r>
              <a:rPr lang="en-SG" altLang="en-US" sz="2000" dirty="0">
                <a:sym typeface="+mn-ea"/>
              </a:rPr>
              <a:t> dan </a:t>
            </a:r>
            <a:r>
              <a:rPr lang="en-SG" altLang="en-US" sz="2000" dirty="0" err="1">
                <a:sym typeface="+mn-ea"/>
              </a:rPr>
              <a:t>tercapainya</a:t>
            </a:r>
            <a:r>
              <a:rPr lang="en-SG" altLang="en-US" sz="2000" dirty="0">
                <a:sym typeface="+mn-ea"/>
              </a:rPr>
              <a:t> </a:t>
            </a:r>
            <a:r>
              <a:rPr lang="en-SG" altLang="en-US" sz="2000" dirty="0" err="1">
                <a:sym typeface="+mn-ea"/>
              </a:rPr>
              <a:t>kemandirian</a:t>
            </a:r>
            <a:r>
              <a:rPr lang="en-SG" altLang="en-US" sz="2000" dirty="0">
                <a:sym typeface="+mn-ea"/>
              </a:rPr>
              <a:t> </a:t>
            </a:r>
            <a:r>
              <a:rPr lang="en-SG" altLang="en-US" sz="2000" dirty="0" err="1">
                <a:sym typeface="+mn-ea"/>
              </a:rPr>
              <a:t>finansial</a:t>
            </a:r>
            <a:endParaRPr lang="en-SG" altLang="en-US" sz="2000" dirty="0"/>
          </a:p>
          <a:p>
            <a:pPr marL="0" indent="0" algn="just">
              <a:buNone/>
            </a:pPr>
            <a:r>
              <a:rPr lang="en-SG" altLang="en-US" sz="2000" dirty="0">
                <a:sym typeface="+mn-ea"/>
              </a:rPr>
              <a:t>4.Membuat/</a:t>
            </a:r>
            <a:r>
              <a:rPr lang="en-SG" altLang="en-US" sz="2000" dirty="0" err="1">
                <a:sym typeface="+mn-ea"/>
              </a:rPr>
              <a:t>mengubah</a:t>
            </a:r>
            <a:r>
              <a:rPr lang="en-SG" altLang="en-US" sz="2000" dirty="0">
                <a:sym typeface="+mn-ea"/>
              </a:rPr>
              <a:t> </a:t>
            </a:r>
            <a:r>
              <a:rPr lang="en-SG" altLang="en-US" sz="2000" dirty="0" err="1">
                <a:sym typeface="+mn-ea"/>
              </a:rPr>
              <a:t>regulasi</a:t>
            </a:r>
            <a:r>
              <a:rPr lang="en-SG" altLang="en-US" sz="2000" dirty="0">
                <a:sym typeface="+mn-ea"/>
              </a:rPr>
              <a:t> internal agar </a:t>
            </a:r>
            <a:r>
              <a:rPr lang="en-SG" altLang="en-US" sz="2000" dirty="0" err="1">
                <a:sym typeface="+mn-ea"/>
              </a:rPr>
              <a:t>mampu</a:t>
            </a:r>
            <a:r>
              <a:rPr lang="en-SG" altLang="en-US" sz="2000" dirty="0">
                <a:sym typeface="+mn-ea"/>
              </a:rPr>
              <a:t> </a:t>
            </a:r>
            <a:r>
              <a:rPr lang="en-SG" altLang="en-US" sz="2000" dirty="0" err="1">
                <a:sym typeface="+mn-ea"/>
              </a:rPr>
              <a:t>beradaptasi</a:t>
            </a:r>
            <a:r>
              <a:rPr lang="en-SG" altLang="en-US" sz="2000" dirty="0">
                <a:sym typeface="+mn-ea"/>
              </a:rPr>
              <a:t> </a:t>
            </a:r>
            <a:r>
              <a:rPr lang="en-SG" altLang="en-US" sz="2000" dirty="0" err="1">
                <a:sym typeface="+mn-ea"/>
              </a:rPr>
              <a:t>terhadap</a:t>
            </a:r>
            <a:r>
              <a:rPr lang="en-SG" altLang="en-US" sz="2000" dirty="0">
                <a:sym typeface="+mn-ea"/>
              </a:rPr>
              <a:t> </a:t>
            </a:r>
            <a:r>
              <a:rPr lang="en-SG" altLang="en-US" sz="2000" dirty="0" err="1">
                <a:sym typeface="+mn-ea"/>
              </a:rPr>
              <a:t>tuntutan</a:t>
            </a:r>
            <a:r>
              <a:rPr lang="en-SG" altLang="en-US" sz="2000" dirty="0">
                <a:sym typeface="+mn-ea"/>
              </a:rPr>
              <a:t> </a:t>
            </a:r>
            <a:r>
              <a:rPr lang="en-US" sz="2000" dirty="0">
                <a:sym typeface="+mn-ea"/>
              </a:rPr>
              <a:t> </a:t>
            </a:r>
            <a:r>
              <a:rPr lang="en-SG" altLang="en-US" sz="2000" dirty="0">
                <a:sym typeface="+mn-ea"/>
              </a:rPr>
              <a:t>l</a:t>
            </a:r>
            <a:r>
              <a:rPr lang="en-US" sz="2000" dirty="0" err="1">
                <a:sym typeface="+mn-ea"/>
              </a:rPr>
              <a:t>ingkungan</a:t>
            </a:r>
            <a:r>
              <a:rPr lang="en-US" sz="2000" dirty="0">
                <a:sym typeface="+mn-ea"/>
              </a:rPr>
              <a:t> </a:t>
            </a:r>
            <a:r>
              <a:rPr lang="en-SG" altLang="en-US" sz="2000" dirty="0">
                <a:sym typeface="+mn-ea"/>
              </a:rPr>
              <a:t>yang </a:t>
            </a:r>
            <a:r>
              <a:rPr lang="en-SG" altLang="en-US" sz="2000" dirty="0" err="1">
                <a:sym typeface="+mn-ea"/>
              </a:rPr>
              <a:t>indah</a:t>
            </a:r>
            <a:r>
              <a:rPr lang="en-SG" altLang="en-US" sz="2000" dirty="0">
                <a:sym typeface="+mn-ea"/>
              </a:rPr>
              <a:t>, </a:t>
            </a:r>
            <a:r>
              <a:rPr lang="en-SG" altLang="en-US" sz="2000" dirty="0" err="1">
                <a:sym typeface="+mn-ea"/>
              </a:rPr>
              <a:t>aman,nyaman</a:t>
            </a:r>
            <a:r>
              <a:rPr lang="en-SG" altLang="en-US" sz="2000" dirty="0">
                <a:sym typeface="+mn-ea"/>
              </a:rPr>
              <a:t> &amp; </a:t>
            </a:r>
            <a:r>
              <a:rPr lang="en-SG" altLang="en-US" sz="2000" dirty="0" err="1">
                <a:sym typeface="+mn-ea"/>
              </a:rPr>
              <a:t>bersih</a:t>
            </a:r>
            <a:r>
              <a:rPr lang="en-SG" altLang="en-US" sz="2000" dirty="0">
                <a:sym typeface="+mn-ea"/>
              </a:rPr>
              <a:t>.</a:t>
            </a:r>
            <a:endParaRPr lang="en-SG" altLang="en-US" sz="2000" dirty="0"/>
          </a:p>
        </p:txBody>
      </p:sp>
    </p:spTree>
    <p:extLst>
      <p:ext uri="{BB962C8B-B14F-4D97-AF65-F5344CB8AC3E}">
        <p14:creationId xmlns:p14="http://schemas.microsoft.com/office/powerpoint/2010/main" val="6593023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1D8F34-E442-418E-B0D6-A2E570E11FAC}"/>
              </a:ext>
            </a:extLst>
          </p:cNvPr>
          <p:cNvSpPr txBox="1"/>
          <p:nvPr/>
        </p:nvSpPr>
        <p:spPr>
          <a:xfrm>
            <a:off x="914400" y="304800"/>
            <a:ext cx="762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altLang="en-US" sz="2400" b="1" dirty="0">
                <a:sym typeface="+mn-ea"/>
              </a:rPr>
              <a:t>TUJUAN YANG INGIN DICAPAI</a:t>
            </a:r>
            <a:endParaRPr lang="en-ID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4921B9-231F-4EF8-B9A8-092071CF3E7D}"/>
              </a:ext>
            </a:extLst>
          </p:cNvPr>
          <p:cNvSpPr txBox="1"/>
          <p:nvPr/>
        </p:nvSpPr>
        <p:spPr>
          <a:xfrm>
            <a:off x="1219200" y="1536174"/>
            <a:ext cx="67056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SG" altLang="en-US" sz="2400" dirty="0">
                <a:sym typeface="+mn-ea"/>
              </a:rPr>
              <a:t>1</a:t>
            </a:r>
            <a:r>
              <a:rPr lang="en-SG" altLang="en-US" sz="2000" dirty="0">
                <a:sym typeface="+mn-ea"/>
              </a:rPr>
              <a:t>.</a:t>
            </a:r>
            <a:r>
              <a:rPr lang="en-SG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Memperoleh </a:t>
            </a:r>
            <a:r>
              <a:rPr lang="en-SG" altLang="en-US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lingkungan</a:t>
            </a:r>
            <a:r>
              <a:rPr lang="en-SG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yang </a:t>
            </a:r>
            <a:r>
              <a:rPr lang="en-SG" altLang="en-US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aman,nyaman,indah,dan</a:t>
            </a:r>
            <a:r>
              <a:rPr lang="en-SG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SG" altLang="en-US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bersih</a:t>
            </a:r>
            <a:r>
              <a:rPr lang="en-SG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SG" altLang="en-US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serta</a:t>
            </a:r>
            <a:r>
              <a:rPr lang="en-SG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SG" altLang="en-US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dapat</a:t>
            </a:r>
            <a:r>
              <a:rPr lang="en-SG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SG" altLang="en-US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menampung</a:t>
            </a:r>
            <a:r>
              <a:rPr lang="en-SG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SG" altLang="en-US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aktifitas</a:t>
            </a:r>
            <a:r>
              <a:rPr lang="en-SG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di zaman </a:t>
            </a:r>
            <a:r>
              <a:rPr lang="en-SG" altLang="en-US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ini</a:t>
            </a:r>
            <a:r>
              <a:rPr lang="en-SG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(era 4.0)</a:t>
            </a:r>
            <a:endParaRPr lang="en-SG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SG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2.Responsif </a:t>
            </a:r>
            <a:r>
              <a:rPr lang="en-SG" altLang="en-US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terhadap</a:t>
            </a:r>
            <a:r>
              <a:rPr lang="en-SG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SG" altLang="en-US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tuntutan</a:t>
            </a:r>
            <a:r>
              <a:rPr lang="en-SG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SG" altLang="en-US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perubahan</a:t>
            </a:r>
            <a:r>
              <a:rPr lang="en-SG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SG" altLang="en-US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lingkungan</a:t>
            </a:r>
            <a:r>
              <a:rPr lang="en-SG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</a:t>
            </a:r>
            <a:endParaRPr lang="en-SG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SG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3.Mandiri </a:t>
            </a:r>
            <a:r>
              <a:rPr lang="en-SG" altLang="en-US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secara</a:t>
            </a:r>
            <a:r>
              <a:rPr lang="en-SG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SG" altLang="en-US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finansial</a:t>
            </a:r>
            <a:r>
              <a:rPr lang="en-SG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SG" altLang="en-US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untuk</a:t>
            </a:r>
            <a:r>
              <a:rPr lang="en-SG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SG" altLang="en-US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pemeliharaan</a:t>
            </a:r>
            <a:r>
              <a:rPr lang="en-SG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&amp; </a:t>
            </a:r>
            <a:r>
              <a:rPr lang="en-SG" altLang="en-US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perawatan</a:t>
            </a:r>
            <a:r>
              <a:rPr lang="en-SG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SG" altLang="en-US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bagi</a:t>
            </a:r>
            <a:r>
              <a:rPr lang="en-SG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SG" altLang="en-US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dirinya</a:t>
            </a:r>
            <a:r>
              <a:rPr lang="en-SG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SG" altLang="en-US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sendiri,dengan</a:t>
            </a:r>
            <a:r>
              <a:rPr lang="en-SG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SG" altLang="en-US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memanfaatkan</a:t>
            </a:r>
            <a:r>
              <a:rPr lang="en-SG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SG" altLang="en-US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potensi</a:t>
            </a:r>
            <a:r>
              <a:rPr lang="en-SG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SG" altLang="en-US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ekonomi</a:t>
            </a:r>
            <a:r>
              <a:rPr lang="en-SG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yang </a:t>
            </a:r>
            <a:r>
              <a:rPr lang="en-SG" altLang="en-US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ada</a:t>
            </a:r>
            <a:r>
              <a:rPr lang="en-SG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SG" altLang="en-US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yaitu</a:t>
            </a:r>
            <a:r>
              <a:rPr lang="en-SG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SG" altLang="en-US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dengan</a:t>
            </a:r>
            <a:r>
              <a:rPr lang="en-SG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SG" altLang="en-US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cara</a:t>
            </a:r>
            <a:r>
              <a:rPr lang="en-SG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:</a:t>
            </a:r>
            <a:endParaRPr lang="en-SG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SG" altLang="en-US" b="1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a.</a:t>
            </a:r>
            <a:r>
              <a:rPr lang="en-SG" altLang="en-US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Recycle</a:t>
            </a:r>
            <a:r>
              <a:rPr lang="en-SG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SG" altLang="en-US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barang</a:t>
            </a:r>
            <a:r>
              <a:rPr lang="en-SG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SG" altLang="en-US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bekas</a:t>
            </a:r>
            <a:r>
              <a:rPr lang="en-SG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SG" altLang="en-US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atau</a:t>
            </a:r>
            <a:r>
              <a:rPr lang="en-SG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SG" altLang="en-US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sampah</a:t>
            </a:r>
            <a:r>
              <a:rPr lang="en-SG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SG" altLang="en-US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menjadi</a:t>
            </a:r>
            <a:r>
              <a:rPr lang="en-SG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SG" altLang="en-US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bahan</a:t>
            </a:r>
            <a:r>
              <a:rPr lang="en-SG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yang </a:t>
            </a:r>
            <a:r>
              <a:rPr lang="en-SG" altLang="en-US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berguna</a:t>
            </a:r>
            <a:r>
              <a:rPr lang="en-SG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SG" altLang="en-US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bernilai</a:t>
            </a:r>
            <a:r>
              <a:rPr lang="en-SG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SG" altLang="en-US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ekonomis-pengelolaan</a:t>
            </a:r>
            <a:r>
              <a:rPr lang="en-SG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SG" altLang="en-US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sampah</a:t>
            </a:r>
            <a:r>
              <a:rPr lang="en-SG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SG" altLang="en-US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berbasis</a:t>
            </a:r>
            <a:r>
              <a:rPr lang="en-SG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SG" altLang="en-US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kawasan</a:t>
            </a:r>
            <a:endParaRPr lang="en-SG" altLang="en-US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0" indent="0" algn="just">
              <a:buNone/>
            </a:pPr>
            <a:r>
              <a:rPr lang="en-SG" altLang="en-US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SG" altLang="en-US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SG" altLang="en-US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Efisiensi</a:t>
            </a:r>
            <a:r>
              <a:rPr lang="en-SG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SG" altLang="en-US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dalam</a:t>
            </a:r>
            <a:r>
              <a:rPr lang="en-SG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SG" altLang="en-US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penggunaan</a:t>
            </a:r>
            <a:r>
              <a:rPr lang="en-SG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SG" altLang="en-US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Energi</a:t>
            </a:r>
            <a:r>
              <a:rPr lang="en-SG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SG" altLang="en-US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dengan</a:t>
            </a:r>
            <a:r>
              <a:rPr lang="en-SG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SG" altLang="en-US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menerapkan</a:t>
            </a:r>
            <a:r>
              <a:rPr lang="en-SG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“</a:t>
            </a:r>
            <a:r>
              <a:rPr lang="en-SG" altLang="en-US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Bangunan</a:t>
            </a:r>
            <a:r>
              <a:rPr lang="en-SG" altLang="en-US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Hijau”</a:t>
            </a:r>
          </a:p>
          <a:p>
            <a:pPr marL="0" indent="0" algn="just">
              <a:buNone/>
            </a:pPr>
            <a:r>
              <a:rPr lang="en-SG" altLang="en-US" b="1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.Pengelolaan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parkir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yg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efektif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efisien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disesuaikan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SG" altLang="en-US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SG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era 4.0</a:t>
            </a:r>
            <a:r>
              <a:rPr lang="en-SG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SG" altLang="en-US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08580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EA522A-CC6F-48B5-A164-2F5E837287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799" y="537250"/>
            <a:ext cx="3581401" cy="41179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16D8E9-BDDA-4696-990F-EE617A8466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1371600"/>
            <a:ext cx="3276601" cy="49149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067F25-0720-44EC-AF18-9D3A94D545BE}"/>
              </a:ext>
            </a:extLst>
          </p:cNvPr>
          <p:cNvSpPr txBox="1"/>
          <p:nvPr/>
        </p:nvSpPr>
        <p:spPr>
          <a:xfrm>
            <a:off x="381000" y="4840069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ILUSTRASI : KOTA YANG BERSIH &amp; NYAMAN</a:t>
            </a:r>
          </a:p>
        </p:txBody>
      </p:sp>
    </p:spTree>
    <p:extLst>
      <p:ext uri="{BB962C8B-B14F-4D97-AF65-F5344CB8AC3E}">
        <p14:creationId xmlns:p14="http://schemas.microsoft.com/office/powerpoint/2010/main" val="40730369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2E24A1-E62B-4065-B100-505F096385DB}"/>
              </a:ext>
            </a:extLst>
          </p:cNvPr>
          <p:cNvSpPr txBox="1"/>
          <p:nvPr/>
        </p:nvSpPr>
        <p:spPr>
          <a:xfrm>
            <a:off x="1752600" y="533400"/>
            <a:ext cx="5715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i-FI" sz="2400" dirty="0">
                <a:solidFill>
                  <a:schemeClr val="tx1"/>
                </a:solidFill>
              </a:rPr>
              <a:t>TUGAS MANAJER PENGELOLA BANGUNAN GEDUNG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D96F7B-F5EC-4CCB-9DD1-5464EAB5E1A3}"/>
              </a:ext>
            </a:extLst>
          </p:cNvPr>
          <p:cNvSpPr txBox="1"/>
          <p:nvPr/>
        </p:nvSpPr>
        <p:spPr>
          <a:xfrm>
            <a:off x="1143000" y="1994322"/>
            <a:ext cx="67818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SG" altLang="en-US" sz="2000" dirty="0"/>
              <a:t>1. </a:t>
            </a:r>
            <a:r>
              <a:rPr lang="en-US" sz="2000" dirty="0" err="1"/>
              <a:t>Memastikan</a:t>
            </a:r>
            <a:r>
              <a:rPr lang="en-US" sz="2000" dirty="0"/>
              <a:t>  </a:t>
            </a:r>
            <a:r>
              <a:rPr lang="en-US" sz="2000" dirty="0" err="1"/>
              <a:t>gedung</a:t>
            </a:r>
            <a:r>
              <a:rPr lang="en-US" sz="2000" dirty="0"/>
              <a:t>  </a:t>
            </a:r>
            <a:r>
              <a:rPr lang="en-US" sz="2000" dirty="0" err="1"/>
              <a:t>beserta</a:t>
            </a:r>
            <a:r>
              <a:rPr lang="en-US" sz="2000" dirty="0"/>
              <a:t> </a:t>
            </a:r>
            <a:r>
              <a:rPr lang="en-US" sz="2000" dirty="0" err="1"/>
              <a:t>pendukungnya</a:t>
            </a:r>
            <a:r>
              <a:rPr lang="en-US" sz="2000" dirty="0"/>
              <a:t> </a:t>
            </a:r>
            <a:r>
              <a:rPr lang="en-US" sz="2000" dirty="0" err="1"/>
              <a:t>serta</a:t>
            </a:r>
            <a:r>
              <a:rPr lang="en-US" sz="2000" dirty="0"/>
              <a:t>  </a:t>
            </a:r>
            <a:r>
              <a:rPr lang="en-US" sz="2000" dirty="0" err="1"/>
              <a:t>peralatan</a:t>
            </a:r>
            <a:r>
              <a:rPr lang="en-US" sz="2000" dirty="0"/>
              <a:t> yang </a:t>
            </a:r>
            <a:r>
              <a:rPr lang="en-US" sz="2000" dirty="0" err="1"/>
              <a:t>ada</a:t>
            </a:r>
            <a:r>
              <a:rPr lang="en-US" sz="2000" dirty="0"/>
              <a:t> di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nya</a:t>
            </a:r>
            <a:r>
              <a:rPr lang="en-US" sz="2000" dirty="0"/>
              <a:t> </a:t>
            </a:r>
            <a:r>
              <a:rPr lang="en-US" sz="2000" dirty="0" err="1"/>
              <a:t>dapat</a:t>
            </a:r>
            <a:r>
              <a:rPr lang="en-US" sz="2000" dirty="0"/>
              <a:t> </a:t>
            </a:r>
            <a:r>
              <a:rPr lang="en-US" sz="2000" dirty="0" err="1"/>
              <a:t>berfungsi</a:t>
            </a:r>
            <a:r>
              <a:rPr lang="en-US" sz="2000" dirty="0"/>
              <a:t> </a:t>
            </a:r>
            <a:r>
              <a:rPr lang="en-US" sz="2000" dirty="0" err="1"/>
              <a:t>baik</a:t>
            </a:r>
            <a:r>
              <a:rPr lang="en-US" sz="2000" dirty="0"/>
              <a:t> &amp;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keadaan</a:t>
            </a:r>
            <a:r>
              <a:rPr lang="en-US" sz="2000" dirty="0"/>
              <a:t> </a:t>
            </a:r>
            <a:r>
              <a:rPr lang="en-US" sz="2000" dirty="0" err="1"/>
              <a:t>baik</a:t>
            </a:r>
            <a:r>
              <a:rPr lang="en-US" sz="2000" dirty="0"/>
              <a:t> agar  </a:t>
            </a:r>
            <a:r>
              <a:rPr lang="en-US" sz="2000" dirty="0" err="1"/>
              <a:t>dapat</a:t>
            </a:r>
            <a:r>
              <a:rPr lang="en-US" sz="2000" dirty="0"/>
              <a:t> </a:t>
            </a:r>
            <a:r>
              <a:rPr lang="en-US" sz="2000" dirty="0" err="1"/>
              <a:t>beroperasional</a:t>
            </a:r>
            <a:r>
              <a:rPr lang="en-US" sz="2000" dirty="0"/>
              <a:t>  </a:t>
            </a:r>
            <a:r>
              <a:rPr lang="en-US" sz="2000" dirty="0" err="1"/>
              <a:t>tanpa</a:t>
            </a:r>
            <a:r>
              <a:rPr lang="en-US" sz="2000" dirty="0"/>
              <a:t> </a:t>
            </a:r>
            <a:r>
              <a:rPr lang="en-US" sz="2000" dirty="0" err="1"/>
              <a:t>kendala</a:t>
            </a:r>
            <a:r>
              <a:rPr lang="en-US" sz="2000" dirty="0"/>
              <a:t> </a:t>
            </a:r>
            <a:r>
              <a:rPr lang="en-US" sz="2000" dirty="0" err="1">
                <a:sym typeface="+mn-ea"/>
              </a:rPr>
              <a:t>bersih</a:t>
            </a:r>
            <a:r>
              <a:rPr lang="en-US" sz="2000" dirty="0">
                <a:sym typeface="+mn-ea"/>
              </a:rPr>
              <a:t>, </a:t>
            </a:r>
            <a:r>
              <a:rPr lang="en-US" sz="2000" dirty="0" err="1">
                <a:sym typeface="+mn-ea"/>
              </a:rPr>
              <a:t>aman</a:t>
            </a:r>
            <a:r>
              <a:rPr lang="en-US" sz="2000" dirty="0">
                <a:sym typeface="+mn-ea"/>
              </a:rPr>
              <a:t> dan </a:t>
            </a:r>
            <a:r>
              <a:rPr lang="en-US" sz="2000" dirty="0" err="1">
                <a:sym typeface="+mn-ea"/>
              </a:rPr>
              <a:t>nyaman</a:t>
            </a:r>
            <a:r>
              <a:rPr lang="en-US" sz="2000" dirty="0">
                <a:sym typeface="+mn-ea"/>
              </a:rPr>
              <a:t>.</a:t>
            </a:r>
          </a:p>
          <a:p>
            <a:pPr algn="just"/>
            <a:r>
              <a:rPr lang="en-SG" altLang="en-US" sz="2000" dirty="0"/>
              <a:t>2. </a:t>
            </a:r>
            <a:r>
              <a:rPr lang="en-SG" altLang="en-US" sz="2000" dirty="0" err="1"/>
              <a:t>Mengoptimalkan</a:t>
            </a:r>
            <a:r>
              <a:rPr lang="en-SG" altLang="en-US" sz="2000" dirty="0"/>
              <a:t> </a:t>
            </a:r>
            <a:r>
              <a:rPr lang="en-SG" altLang="en-US" sz="2000" dirty="0" err="1">
                <a:sym typeface="+mn-ea"/>
              </a:rPr>
              <a:t>fungsi</a:t>
            </a:r>
            <a:r>
              <a:rPr lang="en-SG" altLang="en-US" sz="2000" dirty="0">
                <a:sym typeface="+mn-ea"/>
              </a:rPr>
              <a:t> </a:t>
            </a:r>
            <a:r>
              <a:rPr lang="en-SG" altLang="en-US" sz="2000" dirty="0" err="1">
                <a:sym typeface="+mn-ea"/>
              </a:rPr>
              <a:t>gedung</a:t>
            </a:r>
            <a:r>
              <a:rPr lang="en-SG" altLang="en-US" sz="2000" dirty="0"/>
              <a:t> &amp; </a:t>
            </a:r>
            <a:r>
              <a:rPr lang="en-SG" altLang="en-US" sz="2000" dirty="0" err="1"/>
              <a:t>mengefisiensikan</a:t>
            </a:r>
            <a:r>
              <a:rPr lang="en-SG" altLang="en-US" sz="2000" dirty="0"/>
              <a:t> </a:t>
            </a:r>
            <a:r>
              <a:rPr lang="en-SG" altLang="en-US" sz="2000" dirty="0" err="1">
                <a:sym typeface="+mn-ea"/>
              </a:rPr>
              <a:t>operasional</a:t>
            </a:r>
            <a:r>
              <a:rPr lang="en-SG" altLang="en-US" sz="2000" dirty="0">
                <a:sym typeface="+mn-ea"/>
              </a:rPr>
              <a:t> </a:t>
            </a:r>
            <a:r>
              <a:rPr lang="en-SG" altLang="en-US" sz="2000" dirty="0" err="1">
                <a:sym typeface="+mn-ea"/>
              </a:rPr>
              <a:t>gedung</a:t>
            </a:r>
            <a:r>
              <a:rPr lang="en-SG" altLang="en-US" sz="2000" dirty="0">
                <a:sym typeface="+mn-ea"/>
              </a:rPr>
              <a:t> </a:t>
            </a:r>
            <a:r>
              <a:rPr lang="en-SG" altLang="en-US" sz="2000" dirty="0"/>
              <a:t>, </a:t>
            </a:r>
            <a:r>
              <a:rPr lang="en-SG" altLang="en-US" sz="2000" dirty="0" err="1"/>
              <a:t>sehingga</a:t>
            </a:r>
            <a:r>
              <a:rPr lang="en-SG" altLang="en-US" sz="2000" dirty="0"/>
              <a:t> </a:t>
            </a:r>
            <a:r>
              <a:rPr lang="en-SG" altLang="en-US" sz="2000" dirty="0" err="1"/>
              <a:t>dapat</a:t>
            </a:r>
            <a:r>
              <a:rPr lang="en-SG" altLang="en-US" sz="2000" dirty="0"/>
              <a:t> </a:t>
            </a:r>
            <a:r>
              <a:rPr lang="en-SG" altLang="en-US" sz="2000" dirty="0" err="1"/>
              <a:t>mendatangkan</a:t>
            </a:r>
            <a:r>
              <a:rPr lang="en-SG" altLang="en-US" sz="2000" dirty="0"/>
              <a:t> </a:t>
            </a:r>
            <a:r>
              <a:rPr lang="en-SG" altLang="en-US" sz="2000" dirty="0" err="1"/>
              <a:t>nilai</a:t>
            </a:r>
            <a:r>
              <a:rPr lang="en-SG" altLang="en-US" sz="2000" dirty="0"/>
              <a:t> </a:t>
            </a:r>
            <a:r>
              <a:rPr lang="en-SG" altLang="en-US" sz="2000" dirty="0" err="1"/>
              <a:t>ekonomis</a:t>
            </a:r>
            <a:r>
              <a:rPr lang="en-SG" altLang="en-US" sz="2000" dirty="0"/>
              <a:t>. </a:t>
            </a:r>
            <a:r>
              <a:rPr lang="en-US" sz="2000" dirty="0"/>
              <a:t>  </a:t>
            </a:r>
          </a:p>
          <a:p>
            <a:pPr algn="just"/>
            <a:r>
              <a:rPr lang="en-SG" altLang="en-US" sz="2000" dirty="0"/>
              <a:t>3. Mampu </a:t>
            </a:r>
            <a:r>
              <a:rPr lang="en-SG" altLang="en-US" sz="2000" dirty="0" err="1"/>
              <a:t>beradaptasi</a:t>
            </a:r>
            <a:r>
              <a:rPr lang="en-SG" altLang="en-US" sz="2000" dirty="0"/>
              <a:t> </a:t>
            </a:r>
            <a:r>
              <a:rPr lang="en-SG" altLang="en-US" sz="2000" dirty="0" err="1"/>
              <a:t>terhadap</a:t>
            </a:r>
            <a:r>
              <a:rPr lang="en-SG" altLang="en-US" sz="2000" dirty="0"/>
              <a:t> </a:t>
            </a:r>
            <a:r>
              <a:rPr lang="en-SG" altLang="en-US" sz="2000" dirty="0" err="1"/>
              <a:t>tuntutan</a:t>
            </a:r>
            <a:r>
              <a:rPr lang="en-SG" altLang="en-US" sz="2000" dirty="0"/>
              <a:t> </a:t>
            </a:r>
            <a:r>
              <a:rPr lang="en-SG" altLang="en-US" sz="2000" dirty="0" err="1"/>
              <a:t>lingkungan</a:t>
            </a:r>
            <a:r>
              <a:rPr lang="en-SG" altLang="en-US" sz="2000" dirty="0"/>
              <a:t> .</a:t>
            </a:r>
          </a:p>
        </p:txBody>
      </p:sp>
    </p:spTree>
    <p:extLst>
      <p:ext uri="{BB962C8B-B14F-4D97-AF65-F5344CB8AC3E}">
        <p14:creationId xmlns:p14="http://schemas.microsoft.com/office/powerpoint/2010/main" val="21546499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9C29A0-5B33-403C-8C8A-03ED657BF2D8}"/>
              </a:ext>
            </a:extLst>
          </p:cNvPr>
          <p:cNvSpPr txBox="1"/>
          <p:nvPr/>
        </p:nvSpPr>
        <p:spPr>
          <a:xfrm>
            <a:off x="1828800" y="457200"/>
            <a:ext cx="5715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u="sng" dirty="0">
                <a:solidFill>
                  <a:schemeClr val="tx1"/>
                </a:solidFill>
              </a:rPr>
              <a:t>MERUMUSKAN PROGRAM SUMBER DAYA MANUSIA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A31C35-090C-4CBE-8154-78783745D4D5}"/>
              </a:ext>
            </a:extLst>
          </p:cNvPr>
          <p:cNvSpPr txBox="1"/>
          <p:nvPr/>
        </p:nvSpPr>
        <p:spPr>
          <a:xfrm>
            <a:off x="762000" y="1058736"/>
            <a:ext cx="77724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MENURUT PASAL 9 UNDANG-UNDANG KETENAGA KERJAAN TAHUN 2003,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  <a:p>
            <a:pPr algn="just"/>
            <a:r>
              <a:rPr lang="en-SG" altLang="en-US" dirty="0"/>
              <a:t>P</a:t>
            </a:r>
            <a:r>
              <a:rPr lang="en-US" dirty="0" err="1"/>
              <a:t>elatihan</a:t>
            </a:r>
            <a:r>
              <a:rPr lang="en-US" dirty="0"/>
              <a:t> (training) </a:t>
            </a:r>
            <a:r>
              <a:rPr lang="en-US" dirty="0" err="1"/>
              <a:t>kerja</a:t>
            </a:r>
            <a:r>
              <a:rPr lang="en-US" dirty="0"/>
              <a:t> </a:t>
            </a:r>
            <a:r>
              <a:rPr lang="en-US" dirty="0" err="1"/>
              <a:t>diselenggarakan</a:t>
            </a:r>
            <a:r>
              <a:rPr lang="en-US" dirty="0"/>
              <a:t> dan </a:t>
            </a:r>
            <a:r>
              <a:rPr lang="en-US" dirty="0" err="1"/>
              <a:t>diarahkan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membekali</a:t>
            </a:r>
            <a:r>
              <a:rPr lang="en-US" dirty="0"/>
              <a:t>, </a:t>
            </a:r>
            <a:r>
              <a:rPr lang="en-US" dirty="0" err="1"/>
              <a:t>meningkatkan</a:t>
            </a:r>
            <a:r>
              <a:rPr lang="en-US" dirty="0"/>
              <a:t> dan </a:t>
            </a:r>
            <a:r>
              <a:rPr lang="en-US" dirty="0" err="1"/>
              <a:t>mengembangkan</a:t>
            </a:r>
            <a:r>
              <a:rPr lang="en-US" dirty="0"/>
              <a:t>  </a:t>
            </a:r>
            <a:r>
              <a:rPr lang="en-US" dirty="0" err="1"/>
              <a:t>kompetensi</a:t>
            </a:r>
            <a:r>
              <a:rPr lang="en-US" dirty="0"/>
              <a:t> </a:t>
            </a:r>
            <a:r>
              <a:rPr lang="en-US" dirty="0" err="1"/>
              <a:t>kerja</a:t>
            </a:r>
            <a:r>
              <a:rPr lang="en-US" dirty="0"/>
              <a:t> </a:t>
            </a:r>
            <a:r>
              <a:rPr lang="en-US" dirty="0" err="1"/>
              <a:t>guna</a:t>
            </a:r>
            <a:r>
              <a:rPr lang="en-US" dirty="0"/>
              <a:t> </a:t>
            </a:r>
            <a:r>
              <a:rPr lang="en-US" dirty="0" err="1"/>
              <a:t>meningkatkan</a:t>
            </a:r>
            <a:r>
              <a:rPr lang="en-US" dirty="0"/>
              <a:t> </a:t>
            </a:r>
            <a:r>
              <a:rPr lang="en-US" dirty="0" err="1"/>
              <a:t>kemampuan</a:t>
            </a:r>
            <a:r>
              <a:rPr lang="en-US" dirty="0"/>
              <a:t>, </a:t>
            </a:r>
            <a:r>
              <a:rPr lang="en-US" dirty="0" err="1"/>
              <a:t>produktivitas</a:t>
            </a:r>
            <a:r>
              <a:rPr lang="en-US" dirty="0"/>
              <a:t>, dan </a:t>
            </a:r>
            <a:r>
              <a:rPr lang="en-US" dirty="0" err="1"/>
              <a:t>kesejahteraan</a:t>
            </a:r>
            <a:r>
              <a:rPr lang="en-US" dirty="0"/>
              <a:t>.  </a:t>
            </a:r>
            <a:r>
              <a:rPr lang="en-US" dirty="0" err="1"/>
              <a:t>Tujuan</a:t>
            </a:r>
            <a:r>
              <a:rPr lang="en-US" dirty="0"/>
              <a:t> </a:t>
            </a:r>
            <a:r>
              <a:rPr lang="en-US" dirty="0" err="1"/>
              <a:t>pelatihan</a:t>
            </a:r>
            <a:r>
              <a:rPr lang="en-US" dirty="0"/>
              <a:t> (training) dan </a:t>
            </a:r>
            <a:r>
              <a:rPr lang="en-US" dirty="0" err="1"/>
              <a:t>pengembangan</a:t>
            </a:r>
            <a:r>
              <a:rPr lang="en-US" dirty="0"/>
              <a:t>  SDM (Human </a:t>
            </a:r>
            <a:r>
              <a:rPr lang="en-SG" altLang="en-US" dirty="0"/>
              <a:t>R</a:t>
            </a:r>
            <a:r>
              <a:rPr lang="en-US" dirty="0" err="1"/>
              <a:t>esource</a:t>
            </a:r>
            <a:r>
              <a:rPr lang="en-US" dirty="0"/>
              <a:t> </a:t>
            </a:r>
            <a:r>
              <a:rPr lang="en-SG" altLang="en-US" dirty="0"/>
              <a:t>D</a:t>
            </a:r>
            <a:r>
              <a:rPr lang="en-US" dirty="0" err="1"/>
              <a:t>evelopment</a:t>
            </a:r>
            <a:r>
              <a:rPr lang="en-US" dirty="0"/>
              <a:t>)  pada </a:t>
            </a:r>
            <a:r>
              <a:rPr lang="en-US" dirty="0" err="1"/>
              <a:t>dasarnya</a:t>
            </a:r>
            <a:r>
              <a:rPr lang="en-US" dirty="0"/>
              <a:t> </a:t>
            </a:r>
            <a:r>
              <a:rPr lang="en-US" dirty="0" err="1"/>
              <a:t>dikelompokan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lima </a:t>
            </a:r>
            <a:r>
              <a:rPr lang="en-US" dirty="0" err="1"/>
              <a:t>bidang</a:t>
            </a:r>
            <a:r>
              <a:rPr lang="en-US" dirty="0"/>
              <a:t> :</a:t>
            </a:r>
          </a:p>
          <a:p>
            <a:pPr algn="just"/>
            <a:r>
              <a:rPr lang="en-US" dirty="0"/>
              <a:t>1. </a:t>
            </a:r>
            <a:r>
              <a:rPr lang="en-US" dirty="0" err="1"/>
              <a:t>Memperbaiki</a:t>
            </a:r>
            <a:r>
              <a:rPr lang="en-US" dirty="0"/>
              <a:t> </a:t>
            </a:r>
            <a:r>
              <a:rPr lang="en-US" dirty="0" err="1"/>
              <a:t>kinerja</a:t>
            </a:r>
            <a:r>
              <a:rPr lang="en-US" dirty="0"/>
              <a:t>, </a:t>
            </a:r>
          </a:p>
          <a:p>
            <a:pPr algn="just"/>
            <a:r>
              <a:rPr lang="en-US" dirty="0"/>
              <a:t>2. </a:t>
            </a:r>
            <a:r>
              <a:rPr lang="en-US" dirty="0" err="1"/>
              <a:t>Memutakhirkan</a:t>
            </a:r>
            <a:r>
              <a:rPr lang="en-US" dirty="0"/>
              <a:t> </a:t>
            </a:r>
            <a:r>
              <a:rPr lang="en-US" dirty="0" err="1"/>
              <a:t>keahlian</a:t>
            </a:r>
            <a:r>
              <a:rPr lang="en-US" dirty="0"/>
              <a:t> para </a:t>
            </a:r>
            <a:r>
              <a:rPr lang="en-US" dirty="0" err="1"/>
              <a:t>karyawan</a:t>
            </a:r>
            <a:r>
              <a:rPr lang="en-US" dirty="0"/>
              <a:t> </a:t>
            </a:r>
            <a:r>
              <a:rPr lang="en-US" dirty="0" err="1"/>
              <a:t>sejalan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kemajuan</a:t>
            </a:r>
            <a:r>
              <a:rPr lang="en-US" dirty="0"/>
              <a:t> </a:t>
            </a:r>
            <a:r>
              <a:rPr lang="en-US" dirty="0" err="1"/>
              <a:t>teknologi</a:t>
            </a:r>
            <a:r>
              <a:rPr lang="en-US" dirty="0"/>
              <a:t>, </a:t>
            </a:r>
          </a:p>
          <a:p>
            <a:pPr algn="just"/>
            <a:r>
              <a:rPr lang="en-US" dirty="0"/>
              <a:t>3. </a:t>
            </a:r>
            <a:r>
              <a:rPr lang="en-US" dirty="0" err="1"/>
              <a:t>Mengurangi</a:t>
            </a:r>
            <a:r>
              <a:rPr lang="en-US" dirty="0"/>
              <a:t> </a:t>
            </a:r>
            <a:r>
              <a:rPr lang="en-US" dirty="0" err="1"/>
              <a:t>waktu</a:t>
            </a:r>
            <a:r>
              <a:rPr lang="en-US" dirty="0"/>
              <a:t> </a:t>
            </a:r>
            <a:r>
              <a:rPr lang="en-US" dirty="0" err="1"/>
              <a:t>pembelajaran</a:t>
            </a:r>
            <a:r>
              <a:rPr lang="en-US" dirty="0"/>
              <a:t> </a:t>
            </a:r>
            <a:r>
              <a:rPr lang="en-US" dirty="0" err="1"/>
              <a:t>bagi</a:t>
            </a:r>
            <a:r>
              <a:rPr lang="en-US" dirty="0"/>
              <a:t> </a:t>
            </a:r>
            <a:r>
              <a:rPr lang="en-US" dirty="0" err="1"/>
              <a:t>karyawan</a:t>
            </a:r>
            <a:r>
              <a:rPr lang="en-US" dirty="0"/>
              <a:t> </a:t>
            </a:r>
            <a:r>
              <a:rPr lang="en-US" dirty="0" err="1"/>
              <a:t>baru</a:t>
            </a:r>
            <a:r>
              <a:rPr lang="en-US" dirty="0"/>
              <a:t> agar  </a:t>
            </a:r>
            <a:r>
              <a:rPr lang="en-US" dirty="0" err="1"/>
              <a:t>kompeten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pekerjaan</a:t>
            </a:r>
            <a:r>
              <a:rPr lang="en-US" dirty="0"/>
              <a:t>, </a:t>
            </a:r>
          </a:p>
          <a:p>
            <a:pPr algn="just"/>
            <a:r>
              <a:rPr lang="en-US" dirty="0"/>
              <a:t>4. </a:t>
            </a:r>
            <a:r>
              <a:rPr lang="en-US" dirty="0" err="1"/>
              <a:t>Membantu</a:t>
            </a:r>
            <a:r>
              <a:rPr lang="en-US" dirty="0"/>
              <a:t> </a:t>
            </a:r>
            <a:r>
              <a:rPr lang="en-US" dirty="0" err="1"/>
              <a:t>memecahkan</a:t>
            </a:r>
            <a:r>
              <a:rPr lang="en-US" dirty="0"/>
              <a:t> </a:t>
            </a:r>
            <a:r>
              <a:rPr lang="en-US" dirty="0" err="1"/>
              <a:t>masalah</a:t>
            </a:r>
            <a:r>
              <a:rPr lang="en-US" dirty="0"/>
              <a:t> </a:t>
            </a:r>
            <a:r>
              <a:rPr lang="en-US" dirty="0" err="1"/>
              <a:t>operasional</a:t>
            </a:r>
            <a:r>
              <a:rPr lang="en-US" dirty="0"/>
              <a:t>, </a:t>
            </a:r>
          </a:p>
          <a:p>
            <a:pPr algn="just"/>
            <a:r>
              <a:rPr lang="en-US" dirty="0"/>
              <a:t>5. </a:t>
            </a:r>
            <a:r>
              <a:rPr lang="en-US" dirty="0" err="1"/>
              <a:t>Mempersiapkan</a:t>
            </a:r>
            <a:r>
              <a:rPr lang="en-US" dirty="0"/>
              <a:t> </a:t>
            </a:r>
            <a:r>
              <a:rPr lang="en-US" dirty="0" err="1"/>
              <a:t>karyawan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promosi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91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28DC81-7FA5-404F-8B77-754FE46CB1B7}"/>
              </a:ext>
            </a:extLst>
          </p:cNvPr>
          <p:cNvSpPr txBox="1"/>
          <p:nvPr/>
        </p:nvSpPr>
        <p:spPr>
          <a:xfrm>
            <a:off x="990600" y="1447800"/>
            <a:ext cx="716280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u="sng" dirty="0">
                <a:solidFill>
                  <a:schemeClr val="tx1"/>
                </a:solidFill>
              </a:rPr>
              <a:t>KATA AKHIR</a:t>
            </a:r>
          </a:p>
          <a:p>
            <a:pPr algn="ctr"/>
            <a:endParaRPr lang="en-US" sz="1800" dirty="0"/>
          </a:p>
          <a:p>
            <a:pPr algn="just"/>
            <a:r>
              <a:rPr lang="en-US" sz="2000" dirty="0"/>
              <a:t>G</a:t>
            </a:r>
            <a:r>
              <a:rPr lang="en-SG" altLang="en-US" sz="2000" dirty="0"/>
              <a:t>una</a:t>
            </a:r>
            <a:r>
              <a:rPr lang="en-US" sz="2000" dirty="0"/>
              <a:t> </a:t>
            </a:r>
            <a:r>
              <a:rPr lang="en-SG" altLang="en-US" sz="2000" dirty="0" err="1"/>
              <a:t>mendapatkan</a:t>
            </a:r>
            <a:r>
              <a:rPr lang="en-SG" altLang="en-US" sz="2000" dirty="0"/>
              <a:t> </a:t>
            </a:r>
            <a:r>
              <a:rPr lang="en-SG" altLang="en-US" sz="2000" dirty="0" err="1"/>
              <a:t>tenaga</a:t>
            </a:r>
            <a:r>
              <a:rPr lang="en-SG" altLang="en-US" sz="2000" dirty="0"/>
              <a:t> </a:t>
            </a:r>
            <a:r>
              <a:rPr lang="en-US" sz="2000" dirty="0"/>
              <a:t> </a:t>
            </a:r>
            <a:r>
              <a:rPr lang="en-SG" altLang="en-US" sz="2000" dirty="0"/>
              <a:t>yang </a:t>
            </a:r>
            <a:r>
              <a:rPr lang="en-SG" altLang="en-US" sz="2000" dirty="0" err="1"/>
              <a:t>profesional</a:t>
            </a:r>
            <a:r>
              <a:rPr lang="en-SG" altLang="en-US" sz="2000" dirty="0"/>
              <a:t> </a:t>
            </a:r>
            <a:r>
              <a:rPr lang="en-US" sz="2000" dirty="0"/>
              <a:t> </a:t>
            </a:r>
            <a:r>
              <a:rPr lang="en-SG" altLang="en-US" sz="2000" dirty="0" err="1"/>
              <a:t>maka</a:t>
            </a:r>
            <a:r>
              <a:rPr lang="en-SG" altLang="en-US" sz="2000" dirty="0"/>
              <a:t> </a:t>
            </a:r>
            <a:r>
              <a:rPr lang="en-SG" altLang="en-US" sz="2000" dirty="0" err="1"/>
              <a:t>tenaga</a:t>
            </a:r>
            <a:r>
              <a:rPr lang="en-SG" altLang="en-US" sz="2000" dirty="0"/>
              <a:t> yang </a:t>
            </a:r>
            <a:r>
              <a:rPr lang="en-SG" altLang="en-US" sz="2000" dirty="0" err="1"/>
              <a:t>sudah</a:t>
            </a:r>
            <a:r>
              <a:rPr lang="en-SG" altLang="en-US" sz="2000" dirty="0"/>
              <a:t> </a:t>
            </a:r>
            <a:r>
              <a:rPr lang="en-SG" altLang="en-US" sz="2000" dirty="0" err="1"/>
              <a:t>tersedia</a:t>
            </a:r>
            <a:r>
              <a:rPr lang="en-SG" altLang="en-US" sz="2000" dirty="0"/>
              <a:t> </a:t>
            </a:r>
            <a:r>
              <a:rPr lang="en-SG" altLang="en-US" sz="2000" dirty="0" err="1"/>
              <a:t>perlu</a:t>
            </a:r>
            <a:r>
              <a:rPr lang="en-SG" altLang="en-US" sz="2000" dirty="0"/>
              <a:t> </a:t>
            </a:r>
            <a:r>
              <a:rPr lang="en-SG" altLang="en-US" sz="2000" dirty="0" err="1"/>
              <a:t>ditingkatkan</a:t>
            </a:r>
            <a:r>
              <a:rPr lang="en-SG" altLang="en-US" sz="2000" dirty="0"/>
              <a:t> </a:t>
            </a:r>
            <a:r>
              <a:rPr lang="en-SG" altLang="en-US" sz="2000" dirty="0" err="1"/>
              <a:t>ketrampilan</a:t>
            </a:r>
            <a:r>
              <a:rPr lang="en-SG" altLang="en-US" sz="2000" dirty="0"/>
              <a:t> </a:t>
            </a:r>
            <a:r>
              <a:rPr lang="en-US" sz="2000" dirty="0"/>
              <a:t>&amp; </a:t>
            </a:r>
            <a:r>
              <a:rPr lang="en-SG" altLang="en-US" sz="2000" dirty="0" err="1"/>
              <a:t>pengetahuannya</a:t>
            </a:r>
            <a:r>
              <a:rPr lang="en-SG" altLang="en-US" sz="2000" dirty="0"/>
              <a:t> </a:t>
            </a:r>
            <a:r>
              <a:rPr lang="en-US" sz="2000" dirty="0"/>
              <a:t> </a:t>
            </a:r>
            <a:r>
              <a:rPr lang="en-SG" altLang="en-US" sz="2000" dirty="0" err="1"/>
              <a:t>dengan</a:t>
            </a:r>
            <a:r>
              <a:rPr lang="en-SG" altLang="en-US" sz="2000" dirty="0"/>
              <a:t> </a:t>
            </a:r>
            <a:r>
              <a:rPr lang="en-SG" altLang="en-US" sz="2000" dirty="0" err="1"/>
              <a:t>mengikuti</a:t>
            </a:r>
            <a:r>
              <a:rPr lang="en-SG" altLang="en-US" sz="2000" dirty="0"/>
              <a:t> </a:t>
            </a:r>
            <a:r>
              <a:rPr lang="en-SG" altLang="en-US" sz="2000" b="1" i="1" dirty="0" err="1"/>
              <a:t>pelatihan</a:t>
            </a:r>
            <a:r>
              <a:rPr lang="en-SG" altLang="en-US" sz="2000" b="1" dirty="0"/>
              <a:t> </a:t>
            </a:r>
            <a:r>
              <a:rPr lang="en-SG" altLang="en-US" sz="2000" dirty="0"/>
              <a:t>agar </a:t>
            </a:r>
            <a:r>
              <a:rPr lang="en-SG" altLang="en-US" sz="2000" dirty="0" err="1"/>
              <a:t>nantinya</a:t>
            </a:r>
            <a:r>
              <a:rPr lang="en-SG" altLang="en-US" sz="2000" dirty="0"/>
              <a:t> </a:t>
            </a:r>
            <a:r>
              <a:rPr lang="en-SG" altLang="en-US" sz="2000" dirty="0" err="1"/>
              <a:t>dapat</a:t>
            </a:r>
            <a:r>
              <a:rPr lang="en-SG" altLang="en-US" sz="2000" dirty="0"/>
              <a:t> </a:t>
            </a:r>
            <a:r>
              <a:rPr lang="en-SG" altLang="en-US" sz="2000" dirty="0" err="1"/>
              <a:t>mengelola</a:t>
            </a:r>
            <a:r>
              <a:rPr lang="en-SG" altLang="en-US" sz="2000" dirty="0"/>
              <a:t> </a:t>
            </a:r>
            <a:r>
              <a:rPr lang="en-SG" altLang="en-US" sz="2000" dirty="0" err="1"/>
              <a:t>gedung</a:t>
            </a:r>
            <a:r>
              <a:rPr lang="en-SG" altLang="en-US" sz="2000" dirty="0"/>
              <a:t> </a:t>
            </a:r>
            <a:r>
              <a:rPr lang="en-SG" altLang="en-US" sz="2000" dirty="0" err="1"/>
              <a:t>secara</a:t>
            </a:r>
            <a:r>
              <a:rPr lang="en-SG" altLang="en-US" sz="2000" dirty="0"/>
              <a:t> </a:t>
            </a:r>
            <a:r>
              <a:rPr lang="en-SG" altLang="en-US" sz="2000" dirty="0" err="1"/>
              <a:t>mandiri</a:t>
            </a:r>
            <a:r>
              <a:rPr lang="en-SG" altLang="en-US" sz="2000" dirty="0"/>
              <a:t> </a:t>
            </a:r>
            <a:r>
              <a:rPr lang="en-SG" altLang="en-US" sz="2000" dirty="0" err="1"/>
              <a:t>baik</a:t>
            </a:r>
            <a:r>
              <a:rPr lang="en-SG" altLang="en-US" sz="2000" dirty="0"/>
              <a:t> </a:t>
            </a:r>
            <a:r>
              <a:rPr lang="en-SG" altLang="en-US" sz="2000" dirty="0" err="1"/>
              <a:t>langsung</a:t>
            </a:r>
            <a:r>
              <a:rPr lang="en-SG" altLang="en-US" sz="2000" dirty="0"/>
              <a:t> </a:t>
            </a:r>
            <a:r>
              <a:rPr lang="en-SG" altLang="en-US" sz="2000" dirty="0" err="1"/>
              <a:t>maupun</a:t>
            </a:r>
            <a:r>
              <a:rPr lang="en-SG" altLang="en-US" sz="2000" dirty="0"/>
              <a:t> </a:t>
            </a:r>
            <a:r>
              <a:rPr lang="en-SG" altLang="en-US" sz="2000" dirty="0" err="1"/>
              <a:t>tidak</a:t>
            </a:r>
            <a:r>
              <a:rPr lang="en-SG" altLang="en-US" sz="2000" dirty="0"/>
              <a:t> </a:t>
            </a:r>
            <a:r>
              <a:rPr lang="en-SG" altLang="en-US" sz="2000" dirty="0" err="1"/>
              <a:t>langsung</a:t>
            </a:r>
            <a:r>
              <a:rPr lang="en-SG" altLang="en-US" sz="2000" dirty="0"/>
              <a:t>. </a:t>
            </a:r>
            <a:r>
              <a:rPr lang="en-US" sz="2000" dirty="0"/>
              <a:t>S</a:t>
            </a:r>
            <a:r>
              <a:rPr lang="en-SG" altLang="en-US" sz="2000" dirty="0" err="1"/>
              <a:t>elanjutnya</a:t>
            </a:r>
            <a:r>
              <a:rPr lang="en-SG" altLang="en-US" sz="2000" dirty="0"/>
              <a:t> </a:t>
            </a:r>
            <a:r>
              <a:rPr lang="en-SG" altLang="en-US" sz="2000" dirty="0" err="1"/>
              <a:t>setelah</a:t>
            </a:r>
            <a:r>
              <a:rPr lang="en-SG" altLang="en-US" sz="2000" dirty="0"/>
              <a:t> </a:t>
            </a:r>
            <a:r>
              <a:rPr lang="en-SG" altLang="en-US" sz="2000" dirty="0" err="1"/>
              <a:t>mengikuti</a:t>
            </a:r>
            <a:r>
              <a:rPr lang="en-SG" altLang="en-US" sz="2000" dirty="0"/>
              <a:t> </a:t>
            </a:r>
            <a:r>
              <a:rPr lang="en-SG" altLang="en-US" sz="2000" dirty="0" err="1"/>
              <a:t>pelatihan</a:t>
            </a:r>
            <a:r>
              <a:rPr lang="en-SG" altLang="en-US" sz="2000" dirty="0"/>
              <a:t> </a:t>
            </a:r>
            <a:r>
              <a:rPr lang="en-SG" altLang="en-US" sz="2000" dirty="0" err="1"/>
              <a:t>akan</a:t>
            </a:r>
            <a:r>
              <a:rPr lang="en-SG" altLang="en-US" sz="2000" dirty="0"/>
              <a:t> </a:t>
            </a:r>
            <a:r>
              <a:rPr lang="en-SG" altLang="en-US" sz="2000" dirty="0" err="1"/>
              <a:t>diuji</a:t>
            </a:r>
            <a:r>
              <a:rPr lang="en-SG" altLang="en-US" sz="2000" dirty="0"/>
              <a:t> oleh </a:t>
            </a:r>
            <a:r>
              <a:rPr lang="en-SG" altLang="en-US" sz="2000" dirty="0" err="1"/>
              <a:t>assesor</a:t>
            </a:r>
            <a:r>
              <a:rPr lang="en-SG" altLang="en-US" sz="2000" dirty="0"/>
              <a:t> </a:t>
            </a:r>
            <a:r>
              <a:rPr lang="en-SG" altLang="en-US" sz="2000" dirty="0" err="1"/>
              <a:t>untuk</a:t>
            </a:r>
            <a:r>
              <a:rPr lang="en-SG" altLang="en-US" sz="2000" dirty="0"/>
              <a:t> </a:t>
            </a:r>
            <a:r>
              <a:rPr lang="en-SG" altLang="en-US" sz="2000" dirty="0" err="1"/>
              <a:t>direkomendasikan</a:t>
            </a:r>
            <a:r>
              <a:rPr lang="en-SG" altLang="en-US" sz="2000" dirty="0"/>
              <a:t> </a:t>
            </a:r>
            <a:r>
              <a:rPr lang="en-SG" altLang="en-US" sz="2000" dirty="0" err="1"/>
              <a:t>kompeten</a:t>
            </a:r>
            <a:r>
              <a:rPr lang="en-SG" altLang="en-US" sz="2000" dirty="0"/>
              <a:t> </a:t>
            </a:r>
            <a:r>
              <a:rPr lang="en-SG" altLang="en-US" sz="2000" dirty="0" err="1"/>
              <a:t>atau</a:t>
            </a:r>
            <a:r>
              <a:rPr lang="en-SG" altLang="en-US" sz="2000" dirty="0"/>
              <a:t> </a:t>
            </a:r>
            <a:r>
              <a:rPr lang="en-SG" altLang="en-US" sz="2000" dirty="0" err="1"/>
              <a:t>tidak</a:t>
            </a:r>
            <a:r>
              <a:rPr lang="en-SG" altLang="en-US" sz="2000" dirty="0"/>
              <a:t> </a:t>
            </a:r>
            <a:r>
              <a:rPr lang="en-SG" altLang="en-US" sz="2000" dirty="0" err="1"/>
              <a:t>kompeten</a:t>
            </a:r>
            <a:r>
              <a:rPr lang="en-SG" altLang="en-US" sz="2000" dirty="0"/>
              <a:t> di </a:t>
            </a:r>
            <a:r>
              <a:rPr lang="en-SG" altLang="en-US" sz="2000" dirty="0" err="1"/>
              <a:t>bidang</a:t>
            </a:r>
            <a:r>
              <a:rPr lang="en-SG" altLang="en-US" sz="2000" dirty="0"/>
              <a:t> </a:t>
            </a:r>
            <a:r>
              <a:rPr lang="en-SG" altLang="en-US" sz="2000" dirty="0" err="1"/>
              <a:t>keahliannya.Jika</a:t>
            </a:r>
            <a:r>
              <a:rPr lang="en-SG" altLang="en-US" sz="2000" dirty="0"/>
              <a:t> </a:t>
            </a:r>
            <a:r>
              <a:rPr lang="en-SG" altLang="en-US" sz="2000" dirty="0" err="1"/>
              <a:t>kompeten</a:t>
            </a:r>
            <a:r>
              <a:rPr lang="en-SG" altLang="en-US" sz="2000" dirty="0"/>
              <a:t> </a:t>
            </a:r>
            <a:r>
              <a:rPr lang="en-SG" altLang="en-US" sz="2000" dirty="0" err="1"/>
              <a:t>akan</a:t>
            </a:r>
            <a:r>
              <a:rPr lang="en-SG" altLang="en-US" sz="2000" dirty="0"/>
              <a:t> </a:t>
            </a:r>
            <a:r>
              <a:rPr lang="en-SG" altLang="en-US" sz="2000" dirty="0" err="1"/>
              <a:t>diberikan</a:t>
            </a:r>
            <a:r>
              <a:rPr lang="en-SG" altLang="en-US" sz="2000" dirty="0"/>
              <a:t> </a:t>
            </a:r>
            <a:r>
              <a:rPr lang="en-SG" altLang="en-US" sz="2000" dirty="0" err="1"/>
              <a:t>sertifikat</a:t>
            </a:r>
            <a:r>
              <a:rPr lang="en-SG" altLang="en-US" sz="2000" dirty="0"/>
              <a:t> di </a:t>
            </a:r>
            <a:r>
              <a:rPr lang="en-SG" altLang="en-US" sz="2000" dirty="0" err="1"/>
              <a:t>bidang</a:t>
            </a:r>
            <a:r>
              <a:rPr lang="en-SG" altLang="en-US" sz="2000" dirty="0"/>
              <a:t> </a:t>
            </a:r>
            <a:r>
              <a:rPr lang="en-US" sz="2000" dirty="0"/>
              <a:t>“</a:t>
            </a:r>
            <a:r>
              <a:rPr lang="en-US" sz="2000" i="1" dirty="0">
                <a:solidFill>
                  <a:schemeClr val="tx1"/>
                </a:solidFill>
              </a:rPr>
              <a:t>MANAJER PENGELOLAAN BANGUNAN GEDUNG”</a:t>
            </a:r>
            <a:r>
              <a:rPr lang="en-SG" altLang="en-US" sz="2000" i="1" dirty="0">
                <a:solidFill>
                  <a:srgbClr val="FF0000"/>
                </a:solidFill>
              </a:rPr>
              <a:t>  </a:t>
            </a:r>
            <a:r>
              <a:rPr lang="en-SG" altLang="en-US" sz="2000" i="1" dirty="0">
                <a:solidFill>
                  <a:schemeClr val="tx1"/>
                </a:solidFill>
              </a:rPr>
              <a:t>yang </a:t>
            </a:r>
            <a:r>
              <a:rPr lang="en-SG" altLang="en-US" sz="2000" i="1" dirty="0" err="1">
                <a:solidFill>
                  <a:schemeClr val="tx1"/>
                </a:solidFill>
              </a:rPr>
              <a:t>dikeluarkan</a:t>
            </a:r>
            <a:r>
              <a:rPr lang="en-SG" altLang="en-US" sz="2000" i="1" dirty="0">
                <a:solidFill>
                  <a:srgbClr val="FF0000"/>
                </a:solidFill>
              </a:rPr>
              <a:t> </a:t>
            </a:r>
            <a:r>
              <a:rPr lang="en-SG" altLang="en-US" sz="2000" i="1" dirty="0">
                <a:solidFill>
                  <a:schemeClr val="tx1"/>
                </a:solidFill>
              </a:rPr>
              <a:t>oleh Badan Nasional </a:t>
            </a:r>
            <a:r>
              <a:rPr lang="en-SG" altLang="en-US" sz="2000" i="1" dirty="0" err="1">
                <a:solidFill>
                  <a:schemeClr val="tx1"/>
                </a:solidFill>
              </a:rPr>
              <a:t>Sertifikasi</a:t>
            </a:r>
            <a:r>
              <a:rPr lang="en-SG" altLang="en-US" sz="2000" i="1" dirty="0">
                <a:solidFill>
                  <a:schemeClr val="tx1"/>
                </a:solidFill>
              </a:rPr>
              <a:t> </a:t>
            </a:r>
            <a:r>
              <a:rPr lang="en-SG" altLang="en-US" sz="2000" i="1" dirty="0" err="1">
                <a:solidFill>
                  <a:schemeClr val="tx1"/>
                </a:solidFill>
              </a:rPr>
              <a:t>Profesi</a:t>
            </a:r>
            <a:r>
              <a:rPr lang="en-SG" altLang="en-US" sz="2000" i="1" dirty="0">
                <a:solidFill>
                  <a:schemeClr val="tx1"/>
                </a:solidFill>
              </a:rPr>
              <a:t> (BNSP)</a:t>
            </a:r>
          </a:p>
          <a:p>
            <a:pPr algn="just"/>
            <a:endParaRPr lang="en-SG" altLang="en-US" sz="2000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7400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lang="en-SG" altLang="en-US" sz="2000" dirty="0" smtClean="0">
            <a:solidFill>
              <a:srgbClr val="0070C0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651</TotalTime>
  <Words>1902</Words>
  <Application>Microsoft Office PowerPoint</Application>
  <PresentationFormat>On-screen Show (4:3)</PresentationFormat>
  <Paragraphs>176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Illustrasi : KONDISI KOTA</vt:lpstr>
      <vt:lpstr>LATAR BELAKANG</vt:lpstr>
      <vt:lpstr>PERUBAHAN DUNIA &amp; KONDISI EXISTING GEDUNG di DKI Jakarta</vt:lpstr>
      <vt:lpstr>Dari pengamatan keadaan gedung gedung di DKI Jakarta adalah sbb : </vt:lpstr>
      <vt:lpstr>Landasan hukum yang dapat dijadikan rujukan untuk  “ Manajer Pengelolaan Bangunan Gedung” adalah sbb: </vt:lpstr>
      <vt:lpstr>UU No 2 Tahun 2017 - TENTANG JASA KONSTRUKSI </vt:lpstr>
      <vt:lpstr>UNDANG-UNDANG REPUBLIK INDONESIA NOMOR 13 TAHUN 2003 TENTANG KETENAGAKERJAAN </vt:lpstr>
      <vt:lpstr>PERATURAN GUBERNUR  DKI  JAKARTA NOMOR 60 TAHUN 2022 TENTANG BANGUNAN GEDUNG HIJAU </vt:lpstr>
      <vt:lpstr>PERGUB NO. 102 TAHUN 2021-KEWAJIBAN PENGELOLAAN SAMPAH DI KAWASAN DAN PERUSAHAAN </vt:lpstr>
      <vt:lpstr>PERATURAN MENTERI PEKERJAAN UMUM NOMOR : 09/PER/M/2008 TENTANG PEDOMAN SISTEM MANAJEMEN KESELAMATAN  DAN KESEHATAN KERJA (K3) </vt:lpstr>
      <vt:lpstr>KEPUTUSAN MENTERI KETENAGAKERJAAN  NOMOR 115 TAHUN 2015 TENTANG SKKNI JABATAN KERJA                                                              MANAJER PENGELOLAAN BANGUNAN GEDUNG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ismail - [2010]</dc:creator>
  <cp:lastModifiedBy>Admin</cp:lastModifiedBy>
  <cp:revision>274</cp:revision>
  <dcterms:created xsi:type="dcterms:W3CDTF">2023-05-02T10:15:00Z</dcterms:created>
  <dcterms:modified xsi:type="dcterms:W3CDTF">2025-11-04T08:55:57Z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767B3C506E664D658C9DED46C8B4486A_13</vt:lpwstr>
  </property>
  <property fmtid="{D5CDD505-2E9C-101B-9397-08002B2CF9AE}" pid="3" name="KSOProductBuildVer">
    <vt:lpwstr>1033-12.2.0.13266</vt:lpwstr>
  </property>
</Properties>
</file>