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sldIdLst>
    <p:sldId id="269" r:id="rId2"/>
    <p:sldId id="497" r:id="rId3"/>
    <p:sldId id="495" r:id="rId4"/>
    <p:sldId id="496" r:id="rId5"/>
    <p:sldId id="498" r:id="rId6"/>
    <p:sldId id="499" r:id="rId7"/>
    <p:sldId id="500" r:id="rId8"/>
    <p:sldId id="501" r:id="rId9"/>
    <p:sldId id="50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rijani Surjawinata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94" autoAdjust="0"/>
  </p:normalViewPr>
  <p:slideViewPr>
    <p:cSldViewPr showGuides="1">
      <p:cViewPr varScale="1">
        <p:scale>
          <a:sx n="77" d="100"/>
          <a:sy n="77" d="100"/>
        </p:scale>
        <p:origin x="1206" y="78"/>
      </p:cViewPr>
      <p:guideLst>
        <p:guide orient="horz" pos="2256"/>
        <p:guide pos="2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16T12:40:03.833" idx="1">
    <p:pos x="10" y="1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D4DB6-CE64-4EF4-A2F2-6A61383EA22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Parador+Management+International&amp;sca_esv=3a8be7ffcaaa7a05&amp;rlz=1C1GCEA_enID1185ID1185&amp;sxsrf=AE3TifNwQJf9Ezs-LQb57ADnMJ0WnRVndw%3A1762242083868&amp;ei=I64JaaDeNMKK4-EPhpaQSQ&amp;ved=2ahUKEwjewOCDgdiQAxWwxjgGHdZ4A-cQgK4QegQIBRAO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13" Type="http://schemas.openxmlformats.org/officeDocument/2006/relationships/hyperlink" Target="https://www.google.com/search?q=Wyndham&amp;sca_esv=3a8be7ffcaaa7a05&amp;rlz=1C1GCEA_enID1185ID1185&amp;sxsrf=AE3TifNwQJf9Ezs-LQb57ADnMJ0WnRVndw%3A1762242083868&amp;ei=I64JaaDeNMKK4-EPhpaQSQ&amp;ved=2ahUKEwjewOCDgdiQAxWwxjgGHdZ4A-cQgK4QegQIBRAZ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3" Type="http://schemas.openxmlformats.org/officeDocument/2006/relationships/hyperlink" Target="https://www.google.com/search?q=Artotel+Group&amp;sca_esv=3a8be7ffcaaa7a05&amp;rlz=1C1GCEA_enID1185ID1185&amp;sxsrf=AE3TifNwQJf9Ezs-LQb57ADnMJ0WnRVndw%3A1762242083868&amp;ei=I64JaaDeNMKK4-EPhpaQSQ&amp;ved=2ahUKEwjewOCDgdiQAxWwxjgGHdZ4A-cQgK4QegQIBRAE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7" Type="http://schemas.openxmlformats.org/officeDocument/2006/relationships/hyperlink" Target="https://www.google.com/search?q=Injourney+Hospitality&amp;sca_esv=3a8be7ffcaaa7a05&amp;rlz=1C1GCEA_enID1185ID1185&amp;sxsrf=AE3TifNwQJf9Ezs-LQb57ADnMJ0WnRVndw%3A1762242083868&amp;ei=I64JaaDeNMKK4-EPhpaQSQ&amp;ved=2ahUKEwjewOCDgdiQAxWwxjgGHdZ4A-cQgK4QegQIBRAM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12" Type="http://schemas.openxmlformats.org/officeDocument/2006/relationships/hyperlink" Target="https://www.google.com/search?q=Best+Western&amp;sca_esv=3a8be7ffcaaa7a05&amp;rlz=1C1GCEA_enID1185ID1185&amp;sxsrf=AE3TifNwQJf9Ezs-LQb57ADnMJ0WnRVndw%3A1762242083868&amp;ei=I64JaaDeNMKK4-EPhpaQSQ&amp;ved=2ahUKEwjewOCDgdiQAxWwxjgGHdZ4A-cQgK4QegQIBRAX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2" Type="http://schemas.openxmlformats.org/officeDocument/2006/relationships/hyperlink" Target="https://www.google.com/search?q=Archipelago+International&amp;sca_esv=3a8be7ffcaaa7a05&amp;rlz=1C1GCEA_enID1185ID1185&amp;sxsrf=AE3TifNwQJf9Ezs-LQb57ADnMJ0WnRVndw%3A1762242083868&amp;ei=I64JaaDeNMKK4-EPhpaQSQ&amp;ved=2ahUKEwjewOCDgdiQAxWwxjgGHdZ4A-cQgK4QegQIBRAC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Santika+Hotels+%26+Resorts&amp;sca_esv=3a8be7ffcaaa7a05&amp;rlz=1C1GCEA_enID1185ID1185&amp;sxsrf=AE3TifNwQJf9Ezs-LQb57ADnMJ0WnRVndw%3A1762242083868&amp;ei=I64JaaDeNMKK4-EPhpaQSQ&amp;ved=2ahUKEwjewOCDgdiQAxWwxjgGHdZ4A-cQgK4QegQIBRAK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11" Type="http://schemas.openxmlformats.org/officeDocument/2006/relationships/hyperlink" Target="https://www.google.com/search?q=InterContinental+Hotels+Group+%28IHG%29&amp;sca_esv=3a8be7ffcaaa7a05&amp;rlz=1C1GCEA_enID1185ID1185&amp;sxsrf=AE3TifNwQJf9Ezs-LQb57ADnMJ0WnRVndw%3A1762242083868&amp;ei=I64JaaDeNMKK4-EPhpaQSQ&amp;ved=2ahUKEwjewOCDgdiQAxWwxjgGHdZ4A-cQgK4QegQIBRAV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5" Type="http://schemas.openxmlformats.org/officeDocument/2006/relationships/hyperlink" Target="https://www.google.com/search?q=Azana+Hotels&amp;sca_esv=3a8be7ffcaaa7a05&amp;rlz=1C1GCEA_enID1185ID1185&amp;sxsrf=AE3TifNwQJf9Ezs-LQb57ADnMJ0WnRVndw%3A1762242083868&amp;ei=I64JaaDeNMKK4-EPhpaQSQ&amp;ved=2ahUKEwjewOCDgdiQAxWwxjgGHdZ4A-cQgK4QegQIBRAI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10" Type="http://schemas.openxmlformats.org/officeDocument/2006/relationships/hyperlink" Target="https://www.google.com/search?q=Hilton&amp;sca_esv=3a8be7ffcaaa7a05&amp;rlz=1C1GCEA_enID1185ID1185&amp;sxsrf=AE3TifNwQJf9Ezs-LQb57ADnMJ0WnRVndw%3A1762242083868&amp;ei=I64JaaDeNMKK4-EPhpaQSQ&amp;ved=2ahUKEwjewOCDgdiQAxWwxjgGHdZ4A-cQgK4QegQIBRAT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4" Type="http://schemas.openxmlformats.org/officeDocument/2006/relationships/hyperlink" Target="https://www.google.com/search?q=Aryaduta+Hotels+Group&amp;sca_esv=3a8be7ffcaaa7a05&amp;rlz=1C1GCEA_enID1185ID1185&amp;sxsrf=AE3TifNwQJf9Ezs-LQb57ADnMJ0WnRVndw%3A1762242083868&amp;ei=I64JaaDeNMKK4-EPhpaQSQ&amp;ved=2ahUKEwjewOCDgdiQAxWwxjgGHdZ4A-cQgK4QegQIBRAG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9" Type="http://schemas.openxmlformats.org/officeDocument/2006/relationships/hyperlink" Target="https://www.google.com/search?q=Marriott&amp;sca_esv=3a8be7ffcaaa7a05&amp;rlz=1C1GCEA_enID1185ID1185&amp;sxsrf=AE3TifNwQJf9Ezs-LQb57ADnMJ0WnRVndw%3A1762242083868&amp;ei=I64JaaDeNMKK4-EPhpaQSQ&amp;ved=2ahUKEwjewOCDgdiQAxWwxjgGHdZ4A-cQgK4QegQIBRAR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Relationship Id="rId14" Type="http://schemas.openxmlformats.org/officeDocument/2006/relationships/hyperlink" Target="https://www.google.com/search?q=Accor&amp;sca_esv=3a8be7ffcaaa7a05&amp;rlz=1C1GCEA_enID1185ID1185&amp;sxsrf=AE3TifNwQJf9Ezs-LQb57ADnMJ0WnRVndw%3A1762242083868&amp;ei=I64JaaDeNMKK4-EPhpaQSQ&amp;ved=2ahUKEwjewOCDgdiQAxWwxjgGHdZ4A-cQgK4QegQIBRAb&amp;uact=5&amp;oq=nama+perusahaan+pengelola+hotel&amp;gs_lp=Egxnd3Mtd2l6LXNlcnAiH25hbWEgcGVydXNhaGFhbiBwZW5nZWxvbGEgaG90ZWwyBRAhGKABMgUQIRigATIFECEYnwUyBRAhGJ8FMgUQIRifBTIFECEYnwVImFBQ1BVY9T9wAXgBkAEAmAF7oAHaDqoBBDIwLjK4AQPIAQD4AQGYAhCgAtgLwgIKEAAYsAMY1gQYR8ICBBAjGCfCAggQABiABBiiBMICBRAAGO8FwgIGEAAYFhgewgIIEAAYogQYiQWYAwCIBgGQBgiSBwQxMy4zoAe5gAGyBwQxMi4zuAfMC8IHBjItNS4xMcgHiwE&amp;sclient=gws-wiz-serp&amp;mstk=AUtExfBXPvoKgY9pATakKPM_0FabM9X3JtWPVB9Bg7AdMhxtQk_Yqm5LLhHrcE8OCykh1QXXi_tkxxH4koGcV0ccuhoBq9p-CUEbuMcTuTEnTfuT9un-MKuV20tGFPyIYubfADHKv9mS0kxeKoRi2rug9u65QN11iRRRdxd8-mctc8irLbhqopyfr_bD8FAInWo3eGCdfzJwe4iJry5L99QSJSqgiRzYGddUbiT8dEfS3hK4XHO3uQkI5O_cP8PMbIAqqk3NKwb5cH_lboMtQOFrLMj_&amp;csui=3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80504" y="4563018"/>
            <a:ext cx="184730" cy="8002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endParaRPr lang="en-US" sz="28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/>
            <a:endParaRPr lang="en-US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 descr="The twisting tower ago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45" y="862965"/>
            <a:ext cx="2405380" cy="5244465"/>
          </a:xfrm>
          <a:prstGeom prst="rect">
            <a:avLst/>
          </a:prstGeom>
        </p:spPr>
      </p:pic>
      <p:sp>
        <p:nvSpPr>
          <p:cNvPr id="14" name="TextBox 7"/>
          <p:cNvSpPr txBox="1"/>
          <p:nvPr/>
        </p:nvSpPr>
        <p:spPr>
          <a:xfrm>
            <a:off x="1905000" y="5639038"/>
            <a:ext cx="309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00200" y="5363210"/>
            <a:ext cx="3978910" cy="5308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SG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  Nanang Puguh Wibowo</a:t>
            </a:r>
          </a:p>
          <a:p>
            <a:r>
              <a:rPr lang="en-SG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321685" y="2134235"/>
            <a:ext cx="462915" cy="312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SG" alt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35330" y="914400"/>
            <a:ext cx="5194935" cy="878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SG" altLang="en-US" sz="2800" dirty="0">
                <a:solidFill>
                  <a:srgbClr val="0070C0"/>
                </a:solidFill>
              </a:rPr>
              <a:t>MANAJER PENGELOLA</a:t>
            </a:r>
            <a:endParaRPr lang="en-SG" altLang="en-US" sz="2000" dirty="0">
              <a:solidFill>
                <a:srgbClr val="0070C0"/>
              </a:solidFill>
            </a:endParaRPr>
          </a:p>
          <a:p>
            <a:pPr algn="r"/>
            <a:r>
              <a:rPr lang="en-SG" altLang="en-US" sz="2000" dirty="0">
                <a:solidFill>
                  <a:srgbClr val="0070C0"/>
                </a:solidFill>
              </a:rPr>
              <a:t> </a:t>
            </a:r>
            <a:r>
              <a:rPr lang="en-SG" altLang="en-US" sz="2800" dirty="0">
                <a:solidFill>
                  <a:srgbClr val="00B050"/>
                </a:solidFill>
              </a:rPr>
              <a:t>BANGUNAN GEDUNG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B41BD6-D92A-495D-97B9-CF774D87F805}"/>
              </a:ext>
            </a:extLst>
          </p:cNvPr>
          <p:cNvSpPr txBox="1"/>
          <p:nvPr/>
        </p:nvSpPr>
        <p:spPr>
          <a:xfrm>
            <a:off x="1295400" y="2721114"/>
            <a:ext cx="670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solidFill>
                  <a:srgbClr val="0A0A0A"/>
                </a:solidFill>
                <a:effectLst/>
                <a:latin typeface="Google Sans"/>
              </a:rPr>
              <a:t>LAIN </a:t>
            </a:r>
            <a:r>
              <a:rPr lang="en-US" sz="4000" b="1" i="1" dirty="0" err="1">
                <a:solidFill>
                  <a:srgbClr val="0A0A0A"/>
                </a:solidFill>
                <a:effectLst/>
                <a:latin typeface="Google Sans"/>
              </a:rPr>
              <a:t>LAIN</a:t>
            </a:r>
            <a:endParaRPr lang="en-ID" sz="4000" b="1" i="1" dirty="0">
              <a:solidFill>
                <a:srgbClr val="0A0A0A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064957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788F0D-F22B-42C9-8DAC-E20D3983079E}"/>
              </a:ext>
            </a:extLst>
          </p:cNvPr>
          <p:cNvSpPr txBox="1"/>
          <p:nvPr/>
        </p:nvSpPr>
        <p:spPr>
          <a:xfrm>
            <a:off x="1066800" y="457200"/>
            <a:ext cx="716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1" u="sng" dirty="0">
                <a:solidFill>
                  <a:srgbClr val="0A0A0A"/>
                </a:solidFill>
                <a:effectLst/>
                <a:latin typeface="Google Sans"/>
              </a:rPr>
              <a:t>PENGELOLA GEDUNG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12F85-BDA2-437A-86FD-8C1930616FD9}"/>
              </a:ext>
            </a:extLst>
          </p:cNvPr>
          <p:cNvSpPr txBox="1"/>
          <p:nvPr/>
        </p:nvSpPr>
        <p:spPr>
          <a:xfrm>
            <a:off x="1066800" y="826532"/>
            <a:ext cx="6477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dirty="0" err="1"/>
              <a:t>Individu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Perusahaan  yang </a:t>
            </a:r>
            <a:r>
              <a:rPr lang="en-ID" sz="2400" dirty="0" err="1"/>
              <a:t>bertanggung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atas</a:t>
            </a:r>
            <a:r>
              <a:rPr lang="en-ID" sz="2400" dirty="0"/>
              <a:t>  </a:t>
            </a:r>
            <a:r>
              <a:rPr lang="en-ID" sz="2400" dirty="0" err="1"/>
              <a:t>operasional</a:t>
            </a:r>
            <a:r>
              <a:rPr lang="en-ID" sz="2400" dirty="0"/>
              <a:t> ,</a:t>
            </a:r>
            <a:r>
              <a:rPr lang="en-ID" sz="2400" dirty="0" err="1"/>
              <a:t>pemeliharaan</a:t>
            </a:r>
            <a:r>
              <a:rPr lang="en-ID" sz="2400" dirty="0"/>
              <a:t> dan </a:t>
            </a:r>
            <a:r>
              <a:rPr lang="en-ID" sz="2400" dirty="0" err="1"/>
              <a:t>kinerja</a:t>
            </a:r>
            <a:r>
              <a:rPr lang="en-ID" sz="2400" dirty="0"/>
              <a:t> </a:t>
            </a:r>
            <a:r>
              <a:rPr lang="en-ID" sz="2400" dirty="0" err="1"/>
              <a:t>gedung</a:t>
            </a:r>
            <a:r>
              <a:rPr lang="en-ID" sz="2400" dirty="0"/>
              <a:t> agar  </a:t>
            </a:r>
            <a:r>
              <a:rPr lang="en-ID" sz="2400" dirty="0" err="1"/>
              <a:t>berfungsi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optimal, </a:t>
            </a:r>
            <a:r>
              <a:rPr lang="en-ID" sz="2400" dirty="0" err="1"/>
              <a:t>efisien</a:t>
            </a:r>
            <a:r>
              <a:rPr lang="en-ID" sz="2400" dirty="0"/>
              <a:t>, </a:t>
            </a:r>
            <a:r>
              <a:rPr lang="en-ID" sz="2400" dirty="0" err="1"/>
              <a:t>aman</a:t>
            </a:r>
            <a:r>
              <a:rPr lang="en-ID" sz="2400" dirty="0"/>
              <a:t> dan </a:t>
            </a:r>
            <a:r>
              <a:rPr lang="en-ID" sz="2400" dirty="0" err="1"/>
              <a:t>nyaman</a:t>
            </a:r>
            <a:endParaRPr lang="en-ID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F59C68-3C99-4E05-97AB-0844425B9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514600"/>
            <a:ext cx="8077200" cy="3992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Contoh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perusahaan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pengelola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gedung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di Jakarta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Ardeka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Cipta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Pratama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Perusahaan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menawarkan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layanan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manajemen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fasilitas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gedung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(facility management services)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berfokus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pada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manajemen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operasional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pemeliharaan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kebersihan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serta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pengadaan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barang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Bumi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Daya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Plaza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Dikenal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sebagai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solusi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pembangunan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pengelolaan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gedung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terpercaya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PT Adhi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Persada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Gedung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Merupakan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salah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perusahaan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bergerak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bidang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pengelolaan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gedung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di Jakarta.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PT Usaha Gedung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Mandiri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Menawarkan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berbagai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layanan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termasuk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building 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konstruksi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properti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solusi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Bringin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Karya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Sejahtera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Menyediakan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layanan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manajemen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properti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termasuk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manajemen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gedung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0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DABD1F-0939-4675-BD86-CD55A157A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0665"/>
            <a:ext cx="7620000" cy="59031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Contoh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perusahaan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pengelola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hotel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Indonesia: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Archipelago International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Artotel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Group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Aryaduta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Hotels Group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Azana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Hotels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Santika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Hotels &amp; Resorts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</a:rPr>
              <a:t>melalui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 PT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</a:rPr>
              <a:t>Grahawita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</a:rPr>
              <a:t>Santika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Injourney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Hospitality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</a:rPr>
              <a:t>sebelumnya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 PT Hotel Indonesia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Google Sans"/>
              </a:rPr>
              <a:t>Internasional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Parador Management International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Google Sans"/>
              </a:rPr>
              <a:t>Internasional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Marriott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Hilton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InterContinental Hotels Group (IHG)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Western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Wyndham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77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5AAEC9-CD8B-4F8E-A7AA-AA7175FB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8077200" cy="42719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 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green building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 Jakarta: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Wisma 46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Gedung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ikonik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meraih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sertifikasi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Green Building Council Indonesia (GBCI).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Menara Bank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Danamon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Berhasil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meraih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sertifikasi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GBCI.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Plaza Indonesia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sertifikasi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dan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GBCI.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HK Tower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HVAC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(Heating, Ventilation, and Air Conditioning)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berupa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Chiller Magnetic Bearing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panel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surya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mengelola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Lippo Mall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Meraih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sertifikasi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penghematan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energi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sebesar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21% dan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penghematan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sebesar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31%.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 Market PIK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panel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surya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ventilasi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silang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alami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biofilik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kebun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vertikal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ulang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Sopo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 Tower 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Gedung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perkantoran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 Mega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Kuningan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yang juga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green building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1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7D4888-65C7-433B-897E-079091ECB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828800"/>
            <a:ext cx="6096000" cy="4648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E7D9EF-43AA-44B0-A616-CABA4E60335E}"/>
              </a:ext>
            </a:extLst>
          </p:cNvPr>
          <p:cNvSpPr txBox="1"/>
          <p:nvPr/>
        </p:nvSpPr>
        <p:spPr>
          <a:xfrm>
            <a:off x="914400" y="381000"/>
            <a:ext cx="7620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Pacific Place Mall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penghematan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energi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sensor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LED,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menaikkan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suhu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derajat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mendaur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gedung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655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73A8D-4D78-42B1-8F31-0237EA625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05000"/>
            <a:ext cx="6705600" cy="43264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1F3BCC-F756-463E-835C-E8390747E0B8}"/>
              </a:ext>
            </a:extLst>
          </p:cNvPr>
          <p:cNvSpPr txBox="1"/>
          <p:nvPr/>
        </p:nvSpPr>
        <p:spPr>
          <a:xfrm>
            <a:off x="838200" y="228600"/>
            <a:ext cx="7848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Masjid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Istiqlal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Meraih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sertifikasi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Green Building Excellence in Design for Greater Efficiencies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(EDGE)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IFC.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Upayanya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meliputi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penghematan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energi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panel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surya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penghematan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dan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ulang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air wudhu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56067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8D48E-F41C-4EDF-A2CB-C0FFD6297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24000"/>
            <a:ext cx="6248400" cy="4343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9A54E-CE47-43A1-9269-79AF9FE11D5F}"/>
              </a:ext>
            </a:extLst>
          </p:cNvPr>
          <p:cNvSpPr txBox="1"/>
          <p:nvPr/>
        </p:nvSpPr>
        <p:spPr>
          <a:xfrm>
            <a:off x="990600" y="304800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Hotel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Teraskita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Jakarta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Menerapkan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green building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salah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smart 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669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9223ED-9697-4110-BF3A-184BEBF58186}"/>
              </a:ext>
            </a:extLst>
          </p:cNvPr>
          <p:cNvSpPr txBox="1"/>
          <p:nvPr/>
        </p:nvSpPr>
        <p:spPr>
          <a:xfrm>
            <a:off x="762000" y="1371600"/>
            <a:ext cx="7239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altLang="en-US" sz="2000" dirty="0" err="1">
                <a:sym typeface="+mn-ea"/>
              </a:rPr>
              <a:t>Seorang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b="1" i="1" dirty="0" err="1"/>
              <a:t>Manajer</a:t>
            </a:r>
            <a:r>
              <a:rPr lang="en-SG" altLang="en-US" sz="2000" b="1" i="1" dirty="0"/>
              <a:t>  </a:t>
            </a:r>
            <a:r>
              <a:rPr lang="en-SG" altLang="en-US" sz="2000" b="1" i="1" dirty="0" err="1"/>
              <a:t>Pengelolaan</a:t>
            </a:r>
            <a:r>
              <a:rPr lang="en-SG" altLang="en-US" sz="2000" b="1" i="1" dirty="0"/>
              <a:t> </a:t>
            </a:r>
            <a:r>
              <a:rPr lang="en-SG" altLang="en-US" sz="2000" b="1" i="1" dirty="0" err="1"/>
              <a:t>Bangunan</a:t>
            </a:r>
            <a:r>
              <a:rPr lang="en-SG" altLang="en-US" sz="2000" b="1" i="1" dirty="0"/>
              <a:t>  Gedung </a:t>
            </a:r>
            <a:r>
              <a:rPr lang="en-SG" altLang="en-US" sz="2000" i="1" dirty="0" err="1"/>
              <a:t>diharapkan</a:t>
            </a:r>
            <a:r>
              <a:rPr lang="en-SG" altLang="en-US" sz="2000" i="1" dirty="0"/>
              <a:t> </a:t>
            </a:r>
            <a:r>
              <a:rPr lang="en-SG" altLang="en-US" sz="2000" i="1" dirty="0" err="1"/>
              <a:t>dapat</a:t>
            </a:r>
            <a:r>
              <a:rPr lang="en-SG" altLang="en-US" sz="2000" i="1" dirty="0"/>
              <a:t> </a:t>
            </a:r>
            <a:r>
              <a:rPr lang="en-SG" altLang="en-US" sz="2000" i="1" dirty="0" err="1"/>
              <a:t>memaksimalkan</a:t>
            </a:r>
            <a:r>
              <a:rPr lang="en-SG" altLang="en-US" sz="2000" i="1" dirty="0"/>
              <a:t> </a:t>
            </a:r>
            <a:r>
              <a:rPr lang="en-SG" altLang="en-US" sz="2000" i="1" dirty="0" err="1"/>
              <a:t>sumber</a:t>
            </a:r>
            <a:r>
              <a:rPr lang="en-SG" altLang="en-US" sz="2000" i="1" dirty="0"/>
              <a:t> </a:t>
            </a:r>
            <a:r>
              <a:rPr lang="en-SG" altLang="en-US" sz="2000" i="1" dirty="0" err="1"/>
              <a:t>daya</a:t>
            </a:r>
            <a:r>
              <a:rPr lang="en-SG" altLang="en-US" sz="2000" i="1" dirty="0"/>
              <a:t> yang </a:t>
            </a:r>
            <a:r>
              <a:rPr lang="en-SG" altLang="en-US" sz="2000" i="1" dirty="0" err="1"/>
              <a:t>ter</a:t>
            </a:r>
            <a:r>
              <a:rPr lang="en-SG" altLang="en-US" sz="2000" dirty="0" err="1">
                <a:sym typeface="+mn-ea"/>
              </a:rPr>
              <a:t>s</a:t>
            </a:r>
            <a:r>
              <a:rPr lang="en-SG" altLang="en-US" sz="2000" i="1" dirty="0" err="1"/>
              <a:t>edia</a:t>
            </a:r>
            <a:r>
              <a:rPr lang="en-SG" altLang="en-US" sz="2000" b="1" i="1" dirty="0"/>
              <a:t> </a:t>
            </a:r>
            <a:r>
              <a:rPr lang="en-SG" altLang="en-US" sz="2000" dirty="0"/>
              <a:t> ,</a:t>
            </a:r>
            <a:r>
              <a:rPr lang="en-SG" altLang="en-US" sz="2000" dirty="0" err="1"/>
              <a:t>mengurangi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kerusakan</a:t>
            </a:r>
            <a:r>
              <a:rPr lang="en-SG" altLang="en-US" sz="2000" dirty="0"/>
              <a:t>, </a:t>
            </a:r>
            <a:r>
              <a:rPr lang="en-SG" altLang="en-US" sz="2000" dirty="0" err="1"/>
              <a:t>polusi</a:t>
            </a:r>
            <a:r>
              <a:rPr lang="en-SG" altLang="en-US" sz="2000" dirty="0"/>
              <a:t>, </a:t>
            </a:r>
            <a:r>
              <a:rPr lang="en-SG" altLang="en-US" sz="2000" dirty="0" err="1"/>
              <a:t>mengefisiensikan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energi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sehingga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pembangunan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akan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berkelanjutan</a:t>
            </a:r>
            <a:r>
              <a:rPr lang="en-SG" altLang="en-US" sz="2000" dirty="0"/>
              <a:t> dan </a:t>
            </a:r>
            <a:r>
              <a:rPr lang="en-SG" altLang="en-US" sz="2000" dirty="0" err="1"/>
              <a:t>berumur</a:t>
            </a:r>
            <a:r>
              <a:rPr lang="en-SG" altLang="en-US" sz="2000" dirty="0"/>
              <a:t> </a:t>
            </a:r>
            <a:r>
              <a:rPr lang="en-SG" altLang="en-US" sz="2000" dirty="0" err="1"/>
              <a:t>panjang</a:t>
            </a:r>
            <a:r>
              <a:rPr lang="en-SG" altLang="en-US" sz="2000" dirty="0"/>
              <a:t> dan </a:t>
            </a:r>
            <a:r>
              <a:rPr lang="en-SG" altLang="en-US" sz="2000" dirty="0" err="1"/>
              <a:t>dapat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diwariskan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dari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satu</a:t>
            </a:r>
            <a:r>
              <a:rPr lang="en-SG" altLang="en-US" sz="2000" dirty="0"/>
              <a:t> </a:t>
            </a:r>
            <a:r>
              <a:rPr lang="en-SG" altLang="en-US" sz="2000" dirty="0" err="1">
                <a:sym typeface="+mn-ea"/>
              </a:rPr>
              <a:t>generasi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ke</a:t>
            </a:r>
            <a:r>
              <a:rPr lang="en-SG" altLang="en-US" sz="2000" dirty="0"/>
              <a:t> </a:t>
            </a:r>
            <a:r>
              <a:rPr lang="en-SG" altLang="en-US" sz="2000" dirty="0" err="1"/>
              <a:t>generasi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berikutnya</a:t>
            </a:r>
            <a:endParaRPr lang="en-ID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9BD77-9A2A-438A-996D-950B0ECD525B}"/>
              </a:ext>
            </a:extLst>
          </p:cNvPr>
          <p:cNvSpPr txBox="1"/>
          <p:nvPr/>
        </p:nvSpPr>
        <p:spPr>
          <a:xfrm>
            <a:off x="914400" y="7620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1" u="sng" dirty="0">
                <a:solidFill>
                  <a:srgbClr val="0A0A0A"/>
                </a:solidFill>
                <a:effectLst/>
                <a:latin typeface="Google Sans"/>
              </a:rPr>
              <a:t>HARAPAN :</a:t>
            </a:r>
          </a:p>
        </p:txBody>
      </p:sp>
    </p:spTree>
    <p:extLst>
      <p:ext uri="{BB962C8B-B14F-4D97-AF65-F5344CB8AC3E}">
        <p14:creationId xmlns:p14="http://schemas.microsoft.com/office/powerpoint/2010/main" val="358942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lang="en-SG" altLang="en-US" sz="2000" dirty="0" smtClean="0">
            <a:solidFill>
              <a:srgbClr val="0070C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463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Admin</cp:lastModifiedBy>
  <cp:revision>293</cp:revision>
  <dcterms:created xsi:type="dcterms:W3CDTF">2023-05-02T10:15:00Z</dcterms:created>
  <dcterms:modified xsi:type="dcterms:W3CDTF">2025-11-06T01:54:24Z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767B3C506E664D658C9DED46C8B4486A_13</vt:lpwstr>
  </property>
  <property fmtid="{D5CDD505-2E9C-101B-9397-08002B2CF9AE}" pid="3" name="KSOProductBuildVer">
    <vt:lpwstr>1033-12.2.0.13266</vt:lpwstr>
  </property>
</Properties>
</file>